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Inter Bold" charset="1" panose="02000503000000020004"/>
      <p:regular r:id="rId19"/>
    </p:embeddedFont>
    <p:embeddedFont>
      <p:font typeface="Inter Light" charset="1" panose="02000503000000020004"/>
      <p:regular r:id="rId20"/>
    </p:embeddedFont>
    <p:embeddedFont>
      <p:font typeface="Inter" charset="1" panose="02000503000000020004"/>
      <p:regular r:id="rId21"/>
    </p:embeddedFont>
    <p:embeddedFont>
      <p:font typeface="Calibri (MS)" charset="1" panose="020F0502020204030204"/>
      <p:regular r:id="rId22"/>
    </p:embeddedFont>
    <p:embeddedFont>
      <p:font typeface="Inter Bold Italics" charset="1" panose="02000503000000020004"/>
      <p:regular r:id="rId23"/>
    </p:embeddedFont>
    <p:embeddedFont>
      <p:font typeface="Inter Italics" charset="1" panose="020005030000000200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jpe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jpeg" Type="http://schemas.openxmlformats.org/officeDocument/2006/relationships/image"/><Relationship Id="rId4" Target="https://youtube.com/@tattvamgate?si=NNKMqBlNFp4jwS9s" TargetMode="External" Type="http://schemas.openxmlformats.org/officeDocument/2006/relationships/video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051504" y="2973062"/>
            <a:ext cx="13271524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GATE + College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57412" y="4601837"/>
            <a:ext cx="13973175" cy="69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2925">
                <a:solidFill>
                  <a:srgbClr val="4A4A4A"/>
                </a:solidFill>
                <a:latin typeface="Inter Light"/>
                <a:ea typeface="Inter Light"/>
                <a:cs typeface="Inter Light"/>
                <a:sym typeface="Inter Light"/>
              </a:rPr>
              <a:t>Understanding GATE, Building Strong Foundations &amp; Managing GATE with College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79444" y="6701876"/>
            <a:ext cx="4329112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2475" b="true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Saumya Pathak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79444" y="7204624"/>
            <a:ext cx="4329112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[DDU/IT]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79444" y="7812693"/>
            <a:ext cx="4329112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Mobile no: 9016639757</a:t>
            </a:r>
          </a:p>
          <a:p>
            <a:pPr algn="ctr">
              <a:lnSpc>
                <a:spcPts val="3960"/>
              </a:lnSpc>
            </a:pP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Linkedin: Saumya Pathak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57288" y="881063"/>
            <a:ext cx="16772096" cy="84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What is GATE?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57288" y="1908724"/>
            <a:ext cx="15973425" cy="28575"/>
            <a:chOff x="0" y="0"/>
            <a:chExt cx="21297900" cy="38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97900" cy="38100"/>
            </a:xfrm>
            <a:custGeom>
              <a:avLst/>
              <a:gdLst/>
              <a:ahLst/>
              <a:cxnLst/>
              <a:rect r="r" b="b" t="t" l="l"/>
              <a:pathLst>
                <a:path h="3810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85912" y="2404024"/>
            <a:ext cx="7129462" cy="60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 b="true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Graduate Aptitude Test in Engineering</a:t>
            </a: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5912" y="3192513"/>
            <a:ext cx="7129462" cy="60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It is a prestigious national-level examination.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85912" y="3981002"/>
            <a:ext cx="7129462" cy="1613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It comprehensively assesses your understanding of undergraduate-level subjects in your selected technical paper.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5912" y="5774979"/>
            <a:ext cx="7129462" cy="111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It includes a dedicated section for General Aptitude.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5912" y="7066207"/>
            <a:ext cx="7129462" cy="111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It acts as a primary gateway for higher studies and various specialized career opportunities.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7288" y="2451649"/>
            <a:ext cx="114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7288" y="3240138"/>
            <a:ext cx="114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7288" y="4028627"/>
            <a:ext cx="114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7288" y="5822604"/>
            <a:ext cx="114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7288" y="7113832"/>
            <a:ext cx="114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57288" y="3690861"/>
            <a:ext cx="7558088" cy="3891115"/>
            <a:chOff x="0" y="0"/>
            <a:chExt cx="10077450" cy="5188153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077450" cy="5188204"/>
            </a:xfrm>
            <a:custGeom>
              <a:avLst/>
              <a:gdLst/>
              <a:ahLst/>
              <a:cxnLst/>
              <a:rect r="r" b="b" t="t" l="l"/>
              <a:pathLst>
                <a:path h="5188204" w="10077450">
                  <a:moveTo>
                    <a:pt x="0" y="0"/>
                  </a:moveTo>
                  <a:lnTo>
                    <a:pt x="10077450" y="0"/>
                  </a:lnTo>
                  <a:lnTo>
                    <a:pt x="10077450" y="5188204"/>
                  </a:lnTo>
                  <a:lnTo>
                    <a:pt x="0" y="5188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" r="0" b="-2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72625" y="3690861"/>
            <a:ext cx="7558088" cy="3891115"/>
            <a:chOff x="0" y="0"/>
            <a:chExt cx="10077450" cy="5188153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077450" cy="5188204"/>
            </a:xfrm>
            <a:custGeom>
              <a:avLst/>
              <a:gdLst/>
              <a:ahLst/>
              <a:cxnLst/>
              <a:rect r="r" b="b" t="t" l="l"/>
              <a:pathLst>
                <a:path h="5188204" w="10077450">
                  <a:moveTo>
                    <a:pt x="0" y="0"/>
                  </a:moveTo>
                  <a:lnTo>
                    <a:pt x="10077450" y="0"/>
                  </a:lnTo>
                  <a:lnTo>
                    <a:pt x="10077450" y="5188204"/>
                  </a:lnTo>
                  <a:lnTo>
                    <a:pt x="0" y="5188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" r="0" b="-2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57288" y="881063"/>
            <a:ext cx="16772096" cy="84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Who Can Appear for GATE?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57288" y="1908724"/>
            <a:ext cx="15973425" cy="28575"/>
            <a:chOff x="0" y="0"/>
            <a:chExt cx="21297900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97900" cy="38100"/>
            </a:xfrm>
            <a:custGeom>
              <a:avLst/>
              <a:gdLst/>
              <a:ahLst/>
              <a:cxnLst/>
              <a:rect r="r" b="b" t="t" l="l"/>
              <a:pathLst>
                <a:path h="3810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57288" y="7801051"/>
            <a:ext cx="15973425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b="true" sz="1800" i="true">
                <a:solidFill>
                  <a:srgbClr val="666666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Important Note:</a:t>
            </a:r>
            <a:r>
              <a:rPr lang="en-US" sz="1800" i="true">
                <a:solidFill>
                  <a:srgbClr val="666666"/>
                </a:solidFill>
                <a:latin typeface="Inter Italics"/>
                <a:ea typeface="Inter Italics"/>
                <a:cs typeface="Inter Italics"/>
                <a:sym typeface="Inter Italics"/>
              </a:rPr>
              <a:t> Eligibility rules can be updated. Always verify the latest official criteria from the current year's GATE website.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43075" y="4276649"/>
            <a:ext cx="6705838" cy="47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Current Undergraduate Students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43075" y="4880448"/>
            <a:ext cx="6386512" cy="2115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Candidates currently studying in the </a:t>
            </a:r>
            <a:r>
              <a:rPr lang="en-US" sz="2475" b="true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3rd year or higher</a:t>
            </a: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of any undergraduate degree program (B.Tech / B.E. / B.Sc / etc.) are eligible to appear.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58412" y="4276649"/>
            <a:ext cx="6705838" cy="47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Graduates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58412" y="4880448"/>
            <a:ext cx="6386512" cy="2115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Candidates who have already </a:t>
            </a:r>
            <a:r>
              <a:rPr lang="en-US" sz="2475" b="true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completed</a:t>
            </a: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any government-approved degree program in Engineering, Technology, Architecture, Science, Commerce, or Arts.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57288" y="2846556"/>
            <a:ext cx="5038801" cy="5579716"/>
            <a:chOff x="0" y="0"/>
            <a:chExt cx="6718402" cy="7439622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6718427" cy="7439660"/>
            </a:xfrm>
            <a:custGeom>
              <a:avLst/>
              <a:gdLst/>
              <a:ahLst/>
              <a:cxnLst/>
              <a:rect r="r" b="b" t="t" l="l"/>
              <a:pathLst>
                <a:path h="7439660" w="6718427">
                  <a:moveTo>
                    <a:pt x="0" y="0"/>
                  </a:moveTo>
                  <a:lnTo>
                    <a:pt x="6718427" y="0"/>
                  </a:lnTo>
                  <a:lnTo>
                    <a:pt x="6718427" y="7439660"/>
                  </a:lnTo>
                  <a:lnTo>
                    <a:pt x="0" y="7439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8" t="0" r="-127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624714" y="2846556"/>
            <a:ext cx="5038801" cy="5579716"/>
            <a:chOff x="0" y="0"/>
            <a:chExt cx="6718402" cy="7439622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718427" cy="7439660"/>
            </a:xfrm>
            <a:custGeom>
              <a:avLst/>
              <a:gdLst/>
              <a:ahLst/>
              <a:cxnLst/>
              <a:rect r="r" b="b" t="t" l="l"/>
              <a:pathLst>
                <a:path h="7439660" w="6718427">
                  <a:moveTo>
                    <a:pt x="0" y="0"/>
                  </a:moveTo>
                  <a:lnTo>
                    <a:pt x="6718427" y="0"/>
                  </a:lnTo>
                  <a:lnTo>
                    <a:pt x="6718427" y="7439660"/>
                  </a:lnTo>
                  <a:lnTo>
                    <a:pt x="0" y="7439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8" t="0" r="-12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092140" y="2846556"/>
            <a:ext cx="5038801" cy="5579716"/>
            <a:chOff x="0" y="0"/>
            <a:chExt cx="6718402" cy="7439622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718427" cy="7439660"/>
            </a:xfrm>
            <a:custGeom>
              <a:avLst/>
              <a:gdLst/>
              <a:ahLst/>
              <a:cxnLst/>
              <a:rect r="r" b="b" t="t" l="l"/>
              <a:pathLst>
                <a:path h="7439660" w="6718427">
                  <a:moveTo>
                    <a:pt x="0" y="0"/>
                  </a:moveTo>
                  <a:lnTo>
                    <a:pt x="6718427" y="0"/>
                  </a:lnTo>
                  <a:lnTo>
                    <a:pt x="6718427" y="7439660"/>
                  </a:lnTo>
                  <a:lnTo>
                    <a:pt x="0" y="7439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8" t="0" r="-127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57288" y="881063"/>
            <a:ext cx="16772096" cy="84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GATE at a Glance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57288" y="1908724"/>
            <a:ext cx="15973425" cy="28575"/>
            <a:chOff x="0" y="0"/>
            <a:chExt cx="21297900" cy="38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297900" cy="38100"/>
            </a:xfrm>
            <a:custGeom>
              <a:avLst/>
              <a:gdLst/>
              <a:ahLst/>
              <a:cxnLst/>
              <a:rect r="r" b="b" t="t" l="l"/>
              <a:pathLst>
                <a:path h="3810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57288" y="8645347"/>
            <a:ext cx="15973425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0"/>
              </a:lnSpc>
            </a:pPr>
            <a:r>
              <a:rPr lang="en-US" sz="1800" i="true">
                <a:solidFill>
                  <a:srgbClr val="666666"/>
                </a:solidFill>
                <a:latin typeface="Inter Italics"/>
                <a:ea typeface="Inter Italics"/>
                <a:cs typeface="Inter Italics"/>
                <a:sym typeface="Inter Italics"/>
              </a:rPr>
              <a:t>Exact question distribution can vary by paper/year. Refer to the official GATE brochure for the current pattern.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56409" y="4618206"/>
            <a:ext cx="2640330" cy="47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65 Questions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43075" y="5222005"/>
            <a:ext cx="3867226" cy="2618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Mixed format including Multiple Choice (MCQ), Multiple Select (MSQ), and Numerical Answer Type (NAT).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12623" y="4618206"/>
            <a:ext cx="2062753" cy="47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100 Marks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10501" y="5222005"/>
            <a:ext cx="3867226" cy="2115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Total score is out of 100, requiring a balance of accuracy and broad syllabus coverage.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27538" y="4618206"/>
            <a:ext cx="2167766" cy="47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Weightage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77927" y="5222005"/>
            <a:ext cx="3867226" cy="2618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2475" b="true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15 marks of General Aptitude.</a:t>
            </a:r>
          </a:p>
          <a:p>
            <a:pPr algn="ctr">
              <a:lnSpc>
                <a:spcPts val="3960"/>
              </a:lnSpc>
            </a:pP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Remaining 85 marks are dedicated to the selected subject paper.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333674" y="3503781"/>
            <a:ext cx="685800" cy="685800"/>
            <a:chOff x="0" y="0"/>
            <a:chExt cx="914400" cy="9144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41" r="0" b="-1041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801100" y="3503781"/>
            <a:ext cx="685800" cy="685800"/>
            <a:chOff x="0" y="0"/>
            <a:chExt cx="914400" cy="9144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041" r="0" b="-1041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268526" y="3503781"/>
            <a:ext cx="685800" cy="685800"/>
            <a:chOff x="0" y="0"/>
            <a:chExt cx="914400" cy="9144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041" r="0" b="-104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57288" y="881063"/>
            <a:ext cx="16772096" cy="84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Why Should You Consider GATE?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57288" y="1908724"/>
            <a:ext cx="15973425" cy="28575"/>
            <a:chOff x="0" y="0"/>
            <a:chExt cx="21297900" cy="38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97900" cy="38100"/>
            </a:xfrm>
            <a:custGeom>
              <a:avLst/>
              <a:gdLst/>
              <a:ahLst/>
              <a:cxnLst/>
              <a:rect r="r" b="b" t="t" l="l"/>
              <a:pathLst>
                <a:path h="3810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85912" y="2404024"/>
            <a:ext cx="7129462" cy="111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 b="true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Higher Studies:</a:t>
            </a: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Pursue M.Tech/M.E. and postgraduate education.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5912" y="3695252"/>
            <a:ext cx="7129462" cy="111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 b="true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Premier Institutes:</a:t>
            </a: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Admission opportunities in top-tier colleges (IITs, NITs, IISc).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85912" y="4986490"/>
            <a:ext cx="7129462" cy="111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 b="true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Research:</a:t>
            </a: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Open doors to advanced research opportunities.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5912" y="6277718"/>
            <a:ext cx="7129462" cy="111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 b="true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Career Prospects:</a:t>
            </a: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Certain PSU recruitment opportunities (where applicable).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5912" y="7568946"/>
            <a:ext cx="7129462" cy="1613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 b="true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Technical Strength:</a:t>
            </a: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Builds an incredibly strong technical and conceptual foundation for any engineering career.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7288" y="2451649"/>
            <a:ext cx="114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7288" y="3742877"/>
            <a:ext cx="114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7288" y="5034115"/>
            <a:ext cx="114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7288" y="6325343"/>
            <a:ext cx="114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7288" y="7616571"/>
            <a:ext cx="114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57288" y="4165025"/>
            <a:ext cx="3671888" cy="2897238"/>
            <a:chOff x="0" y="0"/>
            <a:chExt cx="4895850" cy="3862984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4895850" cy="3862959"/>
            </a:xfrm>
            <a:custGeom>
              <a:avLst/>
              <a:gdLst/>
              <a:ahLst/>
              <a:cxnLst/>
              <a:rect r="r" b="b" t="t" l="l"/>
              <a:pathLst>
                <a:path h="3862959" w="4895850">
                  <a:moveTo>
                    <a:pt x="0" y="0"/>
                  </a:moveTo>
                  <a:lnTo>
                    <a:pt x="4895850" y="0"/>
                  </a:lnTo>
                  <a:lnTo>
                    <a:pt x="4895850" y="3862959"/>
                  </a:lnTo>
                  <a:lnTo>
                    <a:pt x="0" y="38629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05" r="0" b="-10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257800" y="4165025"/>
            <a:ext cx="3671888" cy="2897238"/>
            <a:chOff x="0" y="0"/>
            <a:chExt cx="4895850" cy="3862984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4895850" cy="3862959"/>
            </a:xfrm>
            <a:custGeom>
              <a:avLst/>
              <a:gdLst/>
              <a:ahLst/>
              <a:cxnLst/>
              <a:rect r="r" b="b" t="t" l="l"/>
              <a:pathLst>
                <a:path h="3862959" w="4895850">
                  <a:moveTo>
                    <a:pt x="0" y="0"/>
                  </a:moveTo>
                  <a:lnTo>
                    <a:pt x="4895850" y="0"/>
                  </a:lnTo>
                  <a:lnTo>
                    <a:pt x="4895850" y="3862959"/>
                  </a:lnTo>
                  <a:lnTo>
                    <a:pt x="0" y="38629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5" r="0" b="-10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58312" y="4165025"/>
            <a:ext cx="3671888" cy="2897238"/>
            <a:chOff x="0" y="0"/>
            <a:chExt cx="4895850" cy="3862984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4895850" cy="3862959"/>
            </a:xfrm>
            <a:custGeom>
              <a:avLst/>
              <a:gdLst/>
              <a:ahLst/>
              <a:cxnLst/>
              <a:rect r="r" b="b" t="t" l="l"/>
              <a:pathLst>
                <a:path h="3862959" w="4895850">
                  <a:moveTo>
                    <a:pt x="0" y="0"/>
                  </a:moveTo>
                  <a:lnTo>
                    <a:pt x="4895850" y="0"/>
                  </a:lnTo>
                  <a:lnTo>
                    <a:pt x="4895850" y="3862959"/>
                  </a:lnTo>
                  <a:lnTo>
                    <a:pt x="0" y="38629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5" r="0" b="-10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58825" y="4165025"/>
            <a:ext cx="3671888" cy="2897238"/>
            <a:chOff x="0" y="0"/>
            <a:chExt cx="4895850" cy="3862984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4895850" cy="3862959"/>
            </a:xfrm>
            <a:custGeom>
              <a:avLst/>
              <a:gdLst/>
              <a:ahLst/>
              <a:cxnLst/>
              <a:rect r="r" b="b" t="t" l="l"/>
              <a:pathLst>
                <a:path h="3862959" w="4895850">
                  <a:moveTo>
                    <a:pt x="0" y="0"/>
                  </a:moveTo>
                  <a:lnTo>
                    <a:pt x="4895850" y="0"/>
                  </a:lnTo>
                  <a:lnTo>
                    <a:pt x="4895850" y="3862959"/>
                  </a:lnTo>
                  <a:lnTo>
                    <a:pt x="0" y="38629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5" r="0" b="-106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57288" y="881063"/>
            <a:ext cx="16772096" cy="84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GATE is More Than an Exam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57288" y="1908724"/>
            <a:ext cx="15973425" cy="28575"/>
            <a:chOff x="0" y="0"/>
            <a:chExt cx="21297900" cy="38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297900" cy="38100"/>
            </a:xfrm>
            <a:custGeom>
              <a:avLst/>
              <a:gdLst/>
              <a:ahLst/>
              <a:cxnLst/>
              <a:rect r="r" b="b" t="t" l="l"/>
              <a:pathLst>
                <a:path h="3810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57288" y="2608736"/>
            <a:ext cx="15973425" cy="69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2925">
                <a:solidFill>
                  <a:srgbClr val="4A4A4A"/>
                </a:solidFill>
                <a:latin typeface="Inter Light"/>
                <a:ea typeface="Inter Light"/>
                <a:cs typeface="Inter Light"/>
                <a:sym typeface="Inter Light"/>
              </a:rPr>
              <a:t>GATE preparation forces you to move beyond surface-level learning.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71662" y="7528989"/>
            <a:ext cx="15259050" cy="60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It builds revision discipline.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71662" y="8317478"/>
            <a:ext cx="15259050" cy="60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It ensures a rigorous understanding of core computer science subjects.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16812" y="4607938"/>
            <a:ext cx="2752839" cy="47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1. Exam Focus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57325" y="5230787"/>
            <a:ext cx="3071812" cy="908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02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Provides a structured goal.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481037" y="4607938"/>
            <a:ext cx="3225403" cy="959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2. Conceptual Clarity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557838" y="5710761"/>
            <a:ext cx="3071812" cy="908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02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Requires deep understanding.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81550" y="4607938"/>
            <a:ext cx="3225403" cy="959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3. Problem Solving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08369" y="5710761"/>
            <a:ext cx="2771775" cy="497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02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Builds analytical ability.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682062" y="4607938"/>
            <a:ext cx="3225403" cy="959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4. Tech Foundation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816012" y="5710761"/>
            <a:ext cx="2957512" cy="497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025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Creates a lifelong asset.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43038" y="7576614"/>
            <a:ext cx="114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43038" y="8365103"/>
            <a:ext cx="114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57288" y="3960314"/>
            <a:ext cx="7558088" cy="5753843"/>
            <a:chOff x="0" y="0"/>
            <a:chExt cx="10077450" cy="7671791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077450" cy="7671816"/>
            </a:xfrm>
            <a:custGeom>
              <a:avLst/>
              <a:gdLst/>
              <a:ahLst/>
              <a:cxnLst/>
              <a:rect r="r" b="b" t="t" l="l"/>
              <a:pathLst>
                <a:path h="7671816" w="10077450">
                  <a:moveTo>
                    <a:pt x="0" y="0"/>
                  </a:moveTo>
                  <a:lnTo>
                    <a:pt x="10077450" y="0"/>
                  </a:lnTo>
                  <a:lnTo>
                    <a:pt x="10077450" y="7671816"/>
                  </a:lnTo>
                  <a:lnTo>
                    <a:pt x="0" y="7671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9" t="0" r="-5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72625" y="3960314"/>
            <a:ext cx="7558088" cy="5753843"/>
            <a:chOff x="0" y="0"/>
            <a:chExt cx="10077450" cy="7671791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077450" cy="7671816"/>
            </a:xfrm>
            <a:custGeom>
              <a:avLst/>
              <a:gdLst/>
              <a:ahLst/>
              <a:cxnLst/>
              <a:rect r="r" b="b" t="t" l="l"/>
              <a:pathLst>
                <a:path h="7671816" w="10077450">
                  <a:moveTo>
                    <a:pt x="0" y="0"/>
                  </a:moveTo>
                  <a:lnTo>
                    <a:pt x="10077450" y="0"/>
                  </a:lnTo>
                  <a:lnTo>
                    <a:pt x="10077450" y="7671816"/>
                  </a:lnTo>
                  <a:lnTo>
                    <a:pt x="0" y="7671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9" t="0" r="-59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57288" y="881063"/>
            <a:ext cx="16772096" cy="84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Why Start Early?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57288" y="1908724"/>
            <a:ext cx="15973425" cy="28575"/>
            <a:chOff x="0" y="0"/>
            <a:chExt cx="21297900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97900" cy="38100"/>
            </a:xfrm>
            <a:custGeom>
              <a:avLst/>
              <a:gdLst/>
              <a:ahLst/>
              <a:cxnLst/>
              <a:rect r="r" b="b" t="t" l="l"/>
              <a:pathLst>
                <a:path h="3810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57288" y="2404024"/>
            <a:ext cx="15973425" cy="69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292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"Start early — not to study more, but to study better."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43075" y="4546102"/>
            <a:ext cx="6705838" cy="47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The Benefits of Time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58412" y="4546102"/>
            <a:ext cx="6705838" cy="47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Strategic Advantages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71700" y="5149901"/>
            <a:ext cx="5957888" cy="111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More time to deeply understand core concepts.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71700" y="6441129"/>
            <a:ext cx="5957888" cy="111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Significantly less pressure in 6th/7th semesters.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71700" y="7732366"/>
            <a:ext cx="5957888" cy="111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Allows for gradual, stress-free preparation.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87038" y="5149901"/>
            <a:ext cx="5957888" cy="111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More time to practice Previous Year Questions (PYQs) and revise.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87038" y="6441129"/>
            <a:ext cx="5957888" cy="111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Better opportunity to identify and fix weak areas early.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87038" y="7732366"/>
            <a:ext cx="5957888" cy="111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Builds a stronger foundation for college placements as well.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43075" y="5197526"/>
            <a:ext cx="114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43075" y="6488754"/>
            <a:ext cx="114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43075" y="7779991"/>
            <a:ext cx="114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58412" y="5197526"/>
            <a:ext cx="114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158412" y="6488754"/>
            <a:ext cx="114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58412" y="7779991"/>
            <a:ext cx="114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594381" y="2805936"/>
            <a:ext cx="13099239" cy="7006570"/>
            <a:chOff x="0" y="0"/>
            <a:chExt cx="21297900" cy="113919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1297900" cy="11391900"/>
            </a:xfrm>
            <a:custGeom>
              <a:avLst/>
              <a:gdLst/>
              <a:ahLst/>
              <a:cxnLst/>
              <a:rect r="r" b="b" t="t" l="l"/>
              <a:pathLst>
                <a:path h="1139190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11391900"/>
                  </a:lnTo>
                  <a:lnTo>
                    <a:pt x="0" y="11391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203" t="0" r="-3203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57288" y="881063"/>
            <a:ext cx="16772096" cy="84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GATE + College: The Connection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57288" y="1908724"/>
            <a:ext cx="15973425" cy="28575"/>
            <a:chOff x="0" y="0"/>
            <a:chExt cx="21297900" cy="38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297900" cy="38100"/>
            </a:xfrm>
            <a:custGeom>
              <a:avLst/>
              <a:gdLst/>
              <a:ahLst/>
              <a:cxnLst/>
              <a:rect r="r" b="b" t="t" l="l"/>
              <a:pathLst>
                <a:path h="3810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57288" y="2404024"/>
            <a:ext cx="15973425" cy="69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2925">
                <a:solidFill>
                  <a:srgbClr val="4A4A4A"/>
                </a:solidFill>
                <a:latin typeface="Inter Light"/>
                <a:ea typeface="Inter Light"/>
                <a:cs typeface="Inter Light"/>
                <a:sym typeface="Inter Light"/>
              </a:rPr>
              <a:t>College preparation and GATE preparation do not always have to be two separate workloads.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57288" y="3674564"/>
            <a:ext cx="7558088" cy="5536854"/>
            <a:chOff x="0" y="0"/>
            <a:chExt cx="10077450" cy="7382472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077450" cy="7382510"/>
            </a:xfrm>
            <a:custGeom>
              <a:avLst/>
              <a:gdLst/>
              <a:ahLst/>
              <a:cxnLst/>
              <a:rect r="r" b="b" t="t" l="l"/>
              <a:pathLst>
                <a:path h="7382510" w="10077450">
                  <a:moveTo>
                    <a:pt x="0" y="0"/>
                  </a:moveTo>
                  <a:lnTo>
                    <a:pt x="10077450" y="0"/>
                  </a:lnTo>
                  <a:lnTo>
                    <a:pt x="10077450" y="7382510"/>
                  </a:lnTo>
                  <a:lnTo>
                    <a:pt x="0" y="7382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4" t="0" r="-3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72625" y="3674564"/>
            <a:ext cx="7558088" cy="5536854"/>
            <a:chOff x="0" y="0"/>
            <a:chExt cx="10077450" cy="7382472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077450" cy="7382510"/>
            </a:xfrm>
            <a:custGeom>
              <a:avLst/>
              <a:gdLst/>
              <a:ahLst/>
              <a:cxnLst/>
              <a:rect r="r" b="b" t="t" l="l"/>
              <a:pathLst>
                <a:path h="7382510" w="10077450">
                  <a:moveTo>
                    <a:pt x="0" y="0"/>
                  </a:moveTo>
                  <a:lnTo>
                    <a:pt x="10077450" y="0"/>
                  </a:lnTo>
                  <a:lnTo>
                    <a:pt x="10077450" y="7382510"/>
                  </a:lnTo>
                  <a:lnTo>
                    <a:pt x="0" y="7382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4" t="0" r="-34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57288" y="881063"/>
            <a:ext cx="16772096" cy="84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One Subject → Two Benefits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57288" y="1908724"/>
            <a:ext cx="15973425" cy="28575"/>
            <a:chOff x="0" y="0"/>
            <a:chExt cx="21297900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97900" cy="38100"/>
            </a:xfrm>
            <a:custGeom>
              <a:avLst/>
              <a:gdLst/>
              <a:ahLst/>
              <a:cxnLst/>
              <a:rect r="r" b="b" t="t" l="l"/>
              <a:pathLst>
                <a:path h="3810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57288" y="2404024"/>
            <a:ext cx="15973425" cy="69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2925">
                <a:solidFill>
                  <a:srgbClr val="4A4A4A"/>
                </a:solidFill>
                <a:latin typeface="Inter Light"/>
                <a:ea typeface="Inter Light"/>
                <a:cs typeface="Inter Light"/>
                <a:sym typeface="Inter Light"/>
              </a:rPr>
              <a:t>Example: Operating Systems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0150" y="9392393"/>
            <a:ext cx="15344775" cy="465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Conclusion: One subject can perfectly support both your semester GPA and your GATE foundation.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43075" y="4260352"/>
            <a:ext cx="6705838" cy="47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College Academics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58412" y="4260352"/>
            <a:ext cx="6705838" cy="479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GATE Preparation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71700" y="4864151"/>
            <a:ext cx="5957888" cy="60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Learn what processes are.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71700" y="5652640"/>
            <a:ext cx="5957888" cy="60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Study CPU scheduling algorithms.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71700" y="6441129"/>
            <a:ext cx="5957888" cy="60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Understand process synchronization.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71700" y="7229627"/>
            <a:ext cx="5957888" cy="60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Learn memory management theories.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87038" y="4864151"/>
            <a:ext cx="5957888" cy="60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Understand these concepts deeply.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587038" y="5652640"/>
            <a:ext cx="5957888" cy="111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Practice numerical and conceptual questions on scheduling/memory.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87038" y="6943877"/>
            <a:ext cx="5957888" cy="60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Solve GATE PYQs on the topic.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587038" y="7732366"/>
            <a:ext cx="5957888" cy="60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Revise and master the logic.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43075" y="4911776"/>
            <a:ext cx="114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43075" y="5700265"/>
            <a:ext cx="114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43075" y="6488754"/>
            <a:ext cx="114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43075" y="7277252"/>
            <a:ext cx="114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158412" y="4911776"/>
            <a:ext cx="114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158412" y="5700265"/>
            <a:ext cx="114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158412" y="6991502"/>
            <a:ext cx="114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158412" y="7779991"/>
            <a:ext cx="114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57288" y="881063"/>
            <a:ext cx="16772096" cy="84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GATE CS Core Subjects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57288" y="1908724"/>
            <a:ext cx="15973425" cy="28575"/>
            <a:chOff x="0" y="0"/>
            <a:chExt cx="21297900" cy="38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97900" cy="38100"/>
            </a:xfrm>
            <a:custGeom>
              <a:avLst/>
              <a:gdLst/>
              <a:ahLst/>
              <a:cxnLst/>
              <a:rect r="r" b="b" t="t" l="l"/>
              <a:pathLst>
                <a:path h="3810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157288" y="2404024"/>
            <a:ext cx="15973425" cy="1293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2925">
                <a:solidFill>
                  <a:srgbClr val="4A4A4A"/>
                </a:solidFill>
                <a:latin typeface="Inter Light"/>
                <a:ea typeface="Inter Light"/>
                <a:cs typeface="Inter Light"/>
                <a:sym typeface="Inter Light"/>
              </a:rPr>
              <a:t>These subjects will appear throughout your B.Tech journey. This creates an opportunity to integrate your preparation.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471612" y="4483151"/>
            <a:ext cx="4819574" cy="357188"/>
            <a:chOff x="0" y="0"/>
            <a:chExt cx="6426098" cy="476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26100" cy="476250"/>
            </a:xfrm>
            <a:custGeom>
              <a:avLst/>
              <a:gdLst/>
              <a:ahLst/>
              <a:cxnLst/>
              <a:rect r="r" b="b" t="t" l="l"/>
              <a:pathLst>
                <a:path h="476250" w="6426100">
                  <a:moveTo>
                    <a:pt x="0" y="0"/>
                  </a:moveTo>
                  <a:lnTo>
                    <a:pt x="6426100" y="0"/>
                  </a:lnTo>
                  <a:lnTo>
                    <a:pt x="64261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913" r="0" b="-2129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6426098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Engineering Mathematics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57288" y="5040363"/>
            <a:ext cx="5133899" cy="14288"/>
            <a:chOff x="0" y="0"/>
            <a:chExt cx="6845198" cy="190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45173" cy="19050"/>
            </a:xfrm>
            <a:custGeom>
              <a:avLst/>
              <a:gdLst/>
              <a:ahLst/>
              <a:cxnLst/>
              <a:rect r="r" b="b" t="t" l="l"/>
              <a:pathLst>
                <a:path h="19050" w="6845173">
                  <a:moveTo>
                    <a:pt x="0" y="0"/>
                  </a:moveTo>
                  <a:lnTo>
                    <a:pt x="6845173" y="0"/>
                  </a:lnTo>
                  <a:lnTo>
                    <a:pt x="684517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891261" y="4483151"/>
            <a:ext cx="4819574" cy="357188"/>
            <a:chOff x="0" y="0"/>
            <a:chExt cx="6426098" cy="476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26100" cy="476250"/>
            </a:xfrm>
            <a:custGeom>
              <a:avLst/>
              <a:gdLst/>
              <a:ahLst/>
              <a:cxnLst/>
              <a:rect r="r" b="b" t="t" l="l"/>
              <a:pathLst>
                <a:path h="476250" w="6426100">
                  <a:moveTo>
                    <a:pt x="0" y="0"/>
                  </a:moveTo>
                  <a:lnTo>
                    <a:pt x="6426100" y="0"/>
                  </a:lnTo>
                  <a:lnTo>
                    <a:pt x="64261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913" r="0" b="-2129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6426098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Discrete Mathematics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576936" y="5040363"/>
            <a:ext cx="5133899" cy="14288"/>
            <a:chOff x="0" y="0"/>
            <a:chExt cx="6845198" cy="19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45173" cy="19050"/>
            </a:xfrm>
            <a:custGeom>
              <a:avLst/>
              <a:gdLst/>
              <a:ahLst/>
              <a:cxnLst/>
              <a:rect r="r" b="b" t="t" l="l"/>
              <a:pathLst>
                <a:path h="19050" w="6845173">
                  <a:moveTo>
                    <a:pt x="0" y="0"/>
                  </a:moveTo>
                  <a:lnTo>
                    <a:pt x="6845173" y="0"/>
                  </a:lnTo>
                  <a:lnTo>
                    <a:pt x="684517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310910" y="4483151"/>
            <a:ext cx="4819802" cy="357188"/>
            <a:chOff x="0" y="0"/>
            <a:chExt cx="6426403" cy="4762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26398" cy="476250"/>
            </a:xfrm>
            <a:custGeom>
              <a:avLst/>
              <a:gdLst/>
              <a:ahLst/>
              <a:cxnLst/>
              <a:rect r="r" b="b" t="t" l="l"/>
              <a:pathLst>
                <a:path h="476250" w="6426398">
                  <a:moveTo>
                    <a:pt x="0" y="0"/>
                  </a:moveTo>
                  <a:lnTo>
                    <a:pt x="6426398" y="0"/>
                  </a:lnTo>
                  <a:lnTo>
                    <a:pt x="6426398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926" r="0" b="-21292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6426403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Prog. &amp; Data Structures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996585" y="5040363"/>
            <a:ext cx="5134127" cy="14288"/>
            <a:chOff x="0" y="0"/>
            <a:chExt cx="6845503" cy="190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45554" cy="19050"/>
            </a:xfrm>
            <a:custGeom>
              <a:avLst/>
              <a:gdLst/>
              <a:ahLst/>
              <a:cxnLst/>
              <a:rect r="r" b="b" t="t" l="l"/>
              <a:pathLst>
                <a:path h="19050" w="6845554">
                  <a:moveTo>
                    <a:pt x="0" y="0"/>
                  </a:moveTo>
                  <a:lnTo>
                    <a:pt x="6845554" y="0"/>
                  </a:lnTo>
                  <a:lnTo>
                    <a:pt x="684555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471612" y="5554713"/>
            <a:ext cx="4819574" cy="357188"/>
            <a:chOff x="0" y="0"/>
            <a:chExt cx="6426098" cy="476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26100" cy="476250"/>
            </a:xfrm>
            <a:custGeom>
              <a:avLst/>
              <a:gdLst/>
              <a:ahLst/>
              <a:cxnLst/>
              <a:rect r="r" b="b" t="t" l="l"/>
              <a:pathLst>
                <a:path h="476250" w="6426100">
                  <a:moveTo>
                    <a:pt x="0" y="0"/>
                  </a:moveTo>
                  <a:lnTo>
                    <a:pt x="6426100" y="0"/>
                  </a:lnTo>
                  <a:lnTo>
                    <a:pt x="64261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913" r="0" b="-21291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6426098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Algorithms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57288" y="6111926"/>
            <a:ext cx="5133899" cy="14288"/>
            <a:chOff x="0" y="0"/>
            <a:chExt cx="6845198" cy="190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45173" cy="19050"/>
            </a:xfrm>
            <a:custGeom>
              <a:avLst/>
              <a:gdLst/>
              <a:ahLst/>
              <a:cxnLst/>
              <a:rect r="r" b="b" t="t" l="l"/>
              <a:pathLst>
                <a:path h="19050" w="6845173">
                  <a:moveTo>
                    <a:pt x="0" y="0"/>
                  </a:moveTo>
                  <a:lnTo>
                    <a:pt x="6845173" y="0"/>
                  </a:lnTo>
                  <a:lnTo>
                    <a:pt x="684517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891261" y="5554713"/>
            <a:ext cx="4819574" cy="357188"/>
            <a:chOff x="0" y="0"/>
            <a:chExt cx="6426098" cy="4762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426100" cy="476250"/>
            </a:xfrm>
            <a:custGeom>
              <a:avLst/>
              <a:gdLst/>
              <a:ahLst/>
              <a:cxnLst/>
              <a:rect r="r" b="b" t="t" l="l"/>
              <a:pathLst>
                <a:path h="476250" w="6426100">
                  <a:moveTo>
                    <a:pt x="0" y="0"/>
                  </a:moveTo>
                  <a:lnTo>
                    <a:pt x="6426100" y="0"/>
                  </a:lnTo>
                  <a:lnTo>
                    <a:pt x="64261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913" r="0" b="-21291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6426098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Digital Logic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576936" y="6111926"/>
            <a:ext cx="5133899" cy="14288"/>
            <a:chOff x="0" y="0"/>
            <a:chExt cx="6845198" cy="19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45173" cy="19050"/>
            </a:xfrm>
            <a:custGeom>
              <a:avLst/>
              <a:gdLst/>
              <a:ahLst/>
              <a:cxnLst/>
              <a:rect r="r" b="b" t="t" l="l"/>
              <a:pathLst>
                <a:path h="19050" w="6845173">
                  <a:moveTo>
                    <a:pt x="0" y="0"/>
                  </a:moveTo>
                  <a:lnTo>
                    <a:pt x="6845173" y="0"/>
                  </a:lnTo>
                  <a:lnTo>
                    <a:pt x="684517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310910" y="5554713"/>
            <a:ext cx="4819802" cy="357188"/>
            <a:chOff x="0" y="0"/>
            <a:chExt cx="6426403" cy="4762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426398" cy="476250"/>
            </a:xfrm>
            <a:custGeom>
              <a:avLst/>
              <a:gdLst/>
              <a:ahLst/>
              <a:cxnLst/>
              <a:rect r="r" b="b" t="t" l="l"/>
              <a:pathLst>
                <a:path h="476250" w="6426398">
                  <a:moveTo>
                    <a:pt x="0" y="0"/>
                  </a:moveTo>
                  <a:lnTo>
                    <a:pt x="6426398" y="0"/>
                  </a:lnTo>
                  <a:lnTo>
                    <a:pt x="6426398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926" r="0" b="-21292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6426403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Comp. Org. &amp; Architecture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996585" y="6111926"/>
            <a:ext cx="5134127" cy="14288"/>
            <a:chOff x="0" y="0"/>
            <a:chExt cx="6845503" cy="190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845554" cy="19050"/>
            </a:xfrm>
            <a:custGeom>
              <a:avLst/>
              <a:gdLst/>
              <a:ahLst/>
              <a:cxnLst/>
              <a:rect r="r" b="b" t="t" l="l"/>
              <a:pathLst>
                <a:path h="19050" w="6845554">
                  <a:moveTo>
                    <a:pt x="0" y="0"/>
                  </a:moveTo>
                  <a:lnTo>
                    <a:pt x="6845554" y="0"/>
                  </a:lnTo>
                  <a:lnTo>
                    <a:pt x="684555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471612" y="6626276"/>
            <a:ext cx="4819574" cy="357188"/>
            <a:chOff x="0" y="0"/>
            <a:chExt cx="6426098" cy="4762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426100" cy="476250"/>
            </a:xfrm>
            <a:custGeom>
              <a:avLst/>
              <a:gdLst/>
              <a:ahLst/>
              <a:cxnLst/>
              <a:rect r="r" b="b" t="t" l="l"/>
              <a:pathLst>
                <a:path h="476250" w="6426100">
                  <a:moveTo>
                    <a:pt x="0" y="0"/>
                  </a:moveTo>
                  <a:lnTo>
                    <a:pt x="6426100" y="0"/>
                  </a:lnTo>
                  <a:lnTo>
                    <a:pt x="64261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913" r="0" b="-21291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6426098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Operating Systems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57288" y="7183488"/>
            <a:ext cx="5133899" cy="14288"/>
            <a:chOff x="0" y="0"/>
            <a:chExt cx="6845198" cy="190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845173" cy="19050"/>
            </a:xfrm>
            <a:custGeom>
              <a:avLst/>
              <a:gdLst/>
              <a:ahLst/>
              <a:cxnLst/>
              <a:rect r="r" b="b" t="t" l="l"/>
              <a:pathLst>
                <a:path h="19050" w="6845173">
                  <a:moveTo>
                    <a:pt x="0" y="0"/>
                  </a:moveTo>
                  <a:lnTo>
                    <a:pt x="6845173" y="0"/>
                  </a:lnTo>
                  <a:lnTo>
                    <a:pt x="684517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891261" y="6626276"/>
            <a:ext cx="4819574" cy="357188"/>
            <a:chOff x="0" y="0"/>
            <a:chExt cx="6426098" cy="47625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426100" cy="476250"/>
            </a:xfrm>
            <a:custGeom>
              <a:avLst/>
              <a:gdLst/>
              <a:ahLst/>
              <a:cxnLst/>
              <a:rect r="r" b="b" t="t" l="l"/>
              <a:pathLst>
                <a:path h="476250" w="6426100">
                  <a:moveTo>
                    <a:pt x="0" y="0"/>
                  </a:moveTo>
                  <a:lnTo>
                    <a:pt x="6426100" y="0"/>
                  </a:lnTo>
                  <a:lnTo>
                    <a:pt x="64261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913" r="0" b="-21291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6426098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Database Management Sys.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576936" y="7183488"/>
            <a:ext cx="5133899" cy="14288"/>
            <a:chOff x="0" y="0"/>
            <a:chExt cx="6845198" cy="1905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845173" cy="19050"/>
            </a:xfrm>
            <a:custGeom>
              <a:avLst/>
              <a:gdLst/>
              <a:ahLst/>
              <a:cxnLst/>
              <a:rect r="r" b="b" t="t" l="l"/>
              <a:pathLst>
                <a:path h="19050" w="6845173">
                  <a:moveTo>
                    <a:pt x="0" y="0"/>
                  </a:moveTo>
                  <a:lnTo>
                    <a:pt x="6845173" y="0"/>
                  </a:lnTo>
                  <a:lnTo>
                    <a:pt x="684517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310910" y="6626276"/>
            <a:ext cx="4819802" cy="357188"/>
            <a:chOff x="0" y="0"/>
            <a:chExt cx="6426403" cy="4762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426398" cy="476250"/>
            </a:xfrm>
            <a:custGeom>
              <a:avLst/>
              <a:gdLst/>
              <a:ahLst/>
              <a:cxnLst/>
              <a:rect r="r" b="b" t="t" l="l"/>
              <a:pathLst>
                <a:path h="476250" w="6426398">
                  <a:moveTo>
                    <a:pt x="0" y="0"/>
                  </a:moveTo>
                  <a:lnTo>
                    <a:pt x="6426398" y="0"/>
                  </a:lnTo>
                  <a:lnTo>
                    <a:pt x="6426398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926" r="0" b="-21292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6426403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Computer Networks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996585" y="7183488"/>
            <a:ext cx="5134127" cy="14288"/>
            <a:chOff x="0" y="0"/>
            <a:chExt cx="6845503" cy="1905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845554" cy="19050"/>
            </a:xfrm>
            <a:custGeom>
              <a:avLst/>
              <a:gdLst/>
              <a:ahLst/>
              <a:cxnLst/>
              <a:rect r="r" b="b" t="t" l="l"/>
              <a:pathLst>
                <a:path h="19050" w="6845554">
                  <a:moveTo>
                    <a:pt x="0" y="0"/>
                  </a:moveTo>
                  <a:lnTo>
                    <a:pt x="6845554" y="0"/>
                  </a:lnTo>
                  <a:lnTo>
                    <a:pt x="684555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471612" y="7697838"/>
            <a:ext cx="4819574" cy="357188"/>
            <a:chOff x="0" y="0"/>
            <a:chExt cx="6426098" cy="47625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426100" cy="476250"/>
            </a:xfrm>
            <a:custGeom>
              <a:avLst/>
              <a:gdLst/>
              <a:ahLst/>
              <a:cxnLst/>
              <a:rect r="r" b="b" t="t" l="l"/>
              <a:pathLst>
                <a:path h="476250" w="6426100">
                  <a:moveTo>
                    <a:pt x="0" y="0"/>
                  </a:moveTo>
                  <a:lnTo>
                    <a:pt x="6426100" y="0"/>
                  </a:lnTo>
                  <a:lnTo>
                    <a:pt x="64261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913" r="0" b="-21291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6426098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Theory of Computation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57288" y="8255051"/>
            <a:ext cx="5133899" cy="14288"/>
            <a:chOff x="0" y="0"/>
            <a:chExt cx="6845198" cy="1905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845173" cy="19050"/>
            </a:xfrm>
            <a:custGeom>
              <a:avLst/>
              <a:gdLst/>
              <a:ahLst/>
              <a:cxnLst/>
              <a:rect r="r" b="b" t="t" l="l"/>
              <a:pathLst>
                <a:path h="19050" w="6845173">
                  <a:moveTo>
                    <a:pt x="0" y="0"/>
                  </a:moveTo>
                  <a:lnTo>
                    <a:pt x="6845173" y="0"/>
                  </a:lnTo>
                  <a:lnTo>
                    <a:pt x="684517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6891261" y="7697838"/>
            <a:ext cx="4819574" cy="357188"/>
            <a:chOff x="0" y="0"/>
            <a:chExt cx="6426098" cy="47625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426100" cy="476250"/>
            </a:xfrm>
            <a:custGeom>
              <a:avLst/>
              <a:gdLst/>
              <a:ahLst/>
              <a:cxnLst/>
              <a:rect r="r" b="b" t="t" l="l"/>
              <a:pathLst>
                <a:path h="476250" w="6426100">
                  <a:moveTo>
                    <a:pt x="0" y="0"/>
                  </a:moveTo>
                  <a:lnTo>
                    <a:pt x="6426100" y="0"/>
                  </a:lnTo>
                  <a:lnTo>
                    <a:pt x="64261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913" r="0" b="-212913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6426098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Compiler Design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576936" y="8255051"/>
            <a:ext cx="5133899" cy="14288"/>
            <a:chOff x="0" y="0"/>
            <a:chExt cx="6845198" cy="1905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845173" cy="19050"/>
            </a:xfrm>
            <a:custGeom>
              <a:avLst/>
              <a:gdLst/>
              <a:ahLst/>
              <a:cxnLst/>
              <a:rect r="r" b="b" t="t" l="l"/>
              <a:pathLst>
                <a:path h="19050" w="6845173">
                  <a:moveTo>
                    <a:pt x="0" y="0"/>
                  </a:moveTo>
                  <a:lnTo>
                    <a:pt x="6845173" y="0"/>
                  </a:lnTo>
                  <a:lnTo>
                    <a:pt x="684517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57288" y="4554588"/>
            <a:ext cx="171450" cy="200025"/>
            <a:chOff x="0" y="0"/>
            <a:chExt cx="228600" cy="266700"/>
          </a:xfrm>
        </p:grpSpPr>
        <p:sp>
          <p:nvSpPr>
            <p:cNvPr name="Freeform 64" id="64" descr="image.png"/>
            <p:cNvSpPr/>
            <p:nvPr/>
          </p:nvSpPr>
          <p:spPr>
            <a:xfrm flipH="false" flipV="false" rot="0">
              <a:off x="0" y="0"/>
              <a:ext cx="228600" cy="266700"/>
            </a:xfrm>
            <a:custGeom>
              <a:avLst/>
              <a:gdLst/>
              <a:ahLst/>
              <a:cxnLst/>
              <a:rect r="r" b="b" t="t" l="l"/>
              <a:pathLst>
                <a:path h="2667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571" r="0" b="-3571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576936" y="4554588"/>
            <a:ext cx="171450" cy="200025"/>
            <a:chOff x="0" y="0"/>
            <a:chExt cx="228600" cy="266700"/>
          </a:xfrm>
        </p:grpSpPr>
        <p:sp>
          <p:nvSpPr>
            <p:cNvPr name="Freeform 66" id="66" descr="image.png"/>
            <p:cNvSpPr/>
            <p:nvPr/>
          </p:nvSpPr>
          <p:spPr>
            <a:xfrm flipH="false" flipV="false" rot="0">
              <a:off x="0" y="0"/>
              <a:ext cx="228600" cy="266700"/>
            </a:xfrm>
            <a:custGeom>
              <a:avLst/>
              <a:gdLst/>
              <a:ahLst/>
              <a:cxnLst/>
              <a:rect r="r" b="b" t="t" l="l"/>
              <a:pathLst>
                <a:path h="2667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571" r="0" b="-3571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1996585" y="4554588"/>
            <a:ext cx="171450" cy="200025"/>
            <a:chOff x="0" y="0"/>
            <a:chExt cx="228600" cy="266700"/>
          </a:xfrm>
        </p:grpSpPr>
        <p:sp>
          <p:nvSpPr>
            <p:cNvPr name="Freeform 68" id="68" descr="image.png"/>
            <p:cNvSpPr/>
            <p:nvPr/>
          </p:nvSpPr>
          <p:spPr>
            <a:xfrm flipH="false" flipV="false" rot="0">
              <a:off x="0" y="0"/>
              <a:ext cx="228600" cy="266700"/>
            </a:xfrm>
            <a:custGeom>
              <a:avLst/>
              <a:gdLst/>
              <a:ahLst/>
              <a:cxnLst/>
              <a:rect r="r" b="b" t="t" l="l"/>
              <a:pathLst>
                <a:path h="2667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571" r="0" b="-3571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157288" y="5626151"/>
            <a:ext cx="171450" cy="200025"/>
            <a:chOff x="0" y="0"/>
            <a:chExt cx="228600" cy="266700"/>
          </a:xfrm>
        </p:grpSpPr>
        <p:sp>
          <p:nvSpPr>
            <p:cNvPr name="Freeform 70" id="70" descr="image.png"/>
            <p:cNvSpPr/>
            <p:nvPr/>
          </p:nvSpPr>
          <p:spPr>
            <a:xfrm flipH="false" flipV="false" rot="0">
              <a:off x="0" y="0"/>
              <a:ext cx="228600" cy="266700"/>
            </a:xfrm>
            <a:custGeom>
              <a:avLst/>
              <a:gdLst/>
              <a:ahLst/>
              <a:cxnLst/>
              <a:rect r="r" b="b" t="t" l="l"/>
              <a:pathLst>
                <a:path h="2667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571" r="0" b="-3571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6576936" y="5626151"/>
            <a:ext cx="171450" cy="200025"/>
            <a:chOff x="0" y="0"/>
            <a:chExt cx="228600" cy="266700"/>
          </a:xfrm>
        </p:grpSpPr>
        <p:sp>
          <p:nvSpPr>
            <p:cNvPr name="Freeform 72" id="72" descr="image.png"/>
            <p:cNvSpPr/>
            <p:nvPr/>
          </p:nvSpPr>
          <p:spPr>
            <a:xfrm flipH="false" flipV="false" rot="0">
              <a:off x="0" y="0"/>
              <a:ext cx="228600" cy="266700"/>
            </a:xfrm>
            <a:custGeom>
              <a:avLst/>
              <a:gdLst/>
              <a:ahLst/>
              <a:cxnLst/>
              <a:rect r="r" b="b" t="t" l="l"/>
              <a:pathLst>
                <a:path h="2667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571" r="0" b="-3571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1996585" y="5626151"/>
            <a:ext cx="171450" cy="200025"/>
            <a:chOff x="0" y="0"/>
            <a:chExt cx="228600" cy="266700"/>
          </a:xfrm>
        </p:grpSpPr>
        <p:sp>
          <p:nvSpPr>
            <p:cNvPr name="Freeform 74" id="74" descr="image.png"/>
            <p:cNvSpPr/>
            <p:nvPr/>
          </p:nvSpPr>
          <p:spPr>
            <a:xfrm flipH="false" flipV="false" rot="0">
              <a:off x="0" y="0"/>
              <a:ext cx="228600" cy="266700"/>
            </a:xfrm>
            <a:custGeom>
              <a:avLst/>
              <a:gdLst/>
              <a:ahLst/>
              <a:cxnLst/>
              <a:rect r="r" b="b" t="t" l="l"/>
              <a:pathLst>
                <a:path h="2667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571" r="0" b="-3571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157288" y="6697713"/>
            <a:ext cx="171450" cy="200025"/>
            <a:chOff x="0" y="0"/>
            <a:chExt cx="228600" cy="266700"/>
          </a:xfrm>
        </p:grpSpPr>
        <p:sp>
          <p:nvSpPr>
            <p:cNvPr name="Freeform 76" id="76" descr="image.png"/>
            <p:cNvSpPr/>
            <p:nvPr/>
          </p:nvSpPr>
          <p:spPr>
            <a:xfrm flipH="false" flipV="false" rot="0">
              <a:off x="0" y="0"/>
              <a:ext cx="228600" cy="266700"/>
            </a:xfrm>
            <a:custGeom>
              <a:avLst/>
              <a:gdLst/>
              <a:ahLst/>
              <a:cxnLst/>
              <a:rect r="r" b="b" t="t" l="l"/>
              <a:pathLst>
                <a:path h="2667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571" r="0" b="-3571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576936" y="6697713"/>
            <a:ext cx="171450" cy="200025"/>
            <a:chOff x="0" y="0"/>
            <a:chExt cx="228600" cy="266700"/>
          </a:xfrm>
        </p:grpSpPr>
        <p:sp>
          <p:nvSpPr>
            <p:cNvPr name="Freeform 78" id="78" descr="image.png"/>
            <p:cNvSpPr/>
            <p:nvPr/>
          </p:nvSpPr>
          <p:spPr>
            <a:xfrm flipH="false" flipV="false" rot="0">
              <a:off x="0" y="0"/>
              <a:ext cx="228600" cy="266700"/>
            </a:xfrm>
            <a:custGeom>
              <a:avLst/>
              <a:gdLst/>
              <a:ahLst/>
              <a:cxnLst/>
              <a:rect r="r" b="b" t="t" l="l"/>
              <a:pathLst>
                <a:path h="2667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571" r="0" b="-3571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996585" y="6697713"/>
            <a:ext cx="171450" cy="200025"/>
            <a:chOff x="0" y="0"/>
            <a:chExt cx="228600" cy="266700"/>
          </a:xfrm>
        </p:grpSpPr>
        <p:sp>
          <p:nvSpPr>
            <p:cNvPr name="Freeform 80" id="80" descr="image.png"/>
            <p:cNvSpPr/>
            <p:nvPr/>
          </p:nvSpPr>
          <p:spPr>
            <a:xfrm flipH="false" flipV="false" rot="0">
              <a:off x="0" y="0"/>
              <a:ext cx="228600" cy="266700"/>
            </a:xfrm>
            <a:custGeom>
              <a:avLst/>
              <a:gdLst/>
              <a:ahLst/>
              <a:cxnLst/>
              <a:rect r="r" b="b" t="t" l="l"/>
              <a:pathLst>
                <a:path h="2667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571" r="0" b="-3571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157288" y="7769276"/>
            <a:ext cx="171450" cy="200025"/>
            <a:chOff x="0" y="0"/>
            <a:chExt cx="228600" cy="266700"/>
          </a:xfrm>
        </p:grpSpPr>
        <p:sp>
          <p:nvSpPr>
            <p:cNvPr name="Freeform 82" id="82" descr="image.png"/>
            <p:cNvSpPr/>
            <p:nvPr/>
          </p:nvSpPr>
          <p:spPr>
            <a:xfrm flipH="false" flipV="false" rot="0">
              <a:off x="0" y="0"/>
              <a:ext cx="228600" cy="266700"/>
            </a:xfrm>
            <a:custGeom>
              <a:avLst/>
              <a:gdLst/>
              <a:ahLst/>
              <a:cxnLst/>
              <a:rect r="r" b="b" t="t" l="l"/>
              <a:pathLst>
                <a:path h="2667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571" r="0" b="-3571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6576936" y="7769276"/>
            <a:ext cx="171450" cy="200025"/>
            <a:chOff x="0" y="0"/>
            <a:chExt cx="228600" cy="266700"/>
          </a:xfrm>
        </p:grpSpPr>
        <p:sp>
          <p:nvSpPr>
            <p:cNvPr name="Freeform 84" id="84" descr="image.png"/>
            <p:cNvSpPr/>
            <p:nvPr/>
          </p:nvSpPr>
          <p:spPr>
            <a:xfrm flipH="false" flipV="false" rot="0">
              <a:off x="0" y="0"/>
              <a:ext cx="228600" cy="266700"/>
            </a:xfrm>
            <a:custGeom>
              <a:avLst/>
              <a:gdLst/>
              <a:ahLst/>
              <a:cxnLst/>
              <a:rect r="r" b="b" t="t" l="l"/>
              <a:pathLst>
                <a:path h="2667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571" r="0" b="-3571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425912" y="2805936"/>
            <a:ext cx="13436176" cy="7109804"/>
            <a:chOff x="0" y="0"/>
            <a:chExt cx="21297900" cy="11269866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1297900" cy="11269853"/>
            </a:xfrm>
            <a:custGeom>
              <a:avLst/>
              <a:gdLst/>
              <a:ahLst/>
              <a:cxnLst/>
              <a:rect r="r" b="b" t="t" l="l"/>
              <a:pathLst>
                <a:path h="11269853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11269853"/>
                  </a:lnTo>
                  <a:lnTo>
                    <a:pt x="0" y="11269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763" t="0" r="-7763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57288" y="881063"/>
            <a:ext cx="16772096" cy="84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How College Becomes Your Foundation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57288" y="1908724"/>
            <a:ext cx="15973425" cy="28575"/>
            <a:chOff x="0" y="0"/>
            <a:chExt cx="21297900" cy="38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297900" cy="38100"/>
            </a:xfrm>
            <a:custGeom>
              <a:avLst/>
              <a:gdLst/>
              <a:ahLst/>
              <a:cxnLst/>
              <a:rect r="r" b="b" t="t" l="l"/>
              <a:pathLst>
                <a:path h="3810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57288" y="2404024"/>
            <a:ext cx="15973425" cy="699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2925">
                <a:solidFill>
                  <a:srgbClr val="4A4A4A"/>
                </a:solidFill>
                <a:latin typeface="Inter Light"/>
                <a:ea typeface="Inter Light"/>
                <a:cs typeface="Inter Light"/>
                <a:sym typeface="Inter Light"/>
              </a:rPr>
              <a:t>Don't study only to pass the semester. Build understanding that stays with you.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57288" y="881063"/>
            <a:ext cx="16772096" cy="84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Managing GATE + College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57288" y="1908724"/>
            <a:ext cx="15973425" cy="28575"/>
            <a:chOff x="0" y="0"/>
            <a:chExt cx="21297900" cy="38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97900" cy="38100"/>
            </a:xfrm>
            <a:custGeom>
              <a:avLst/>
              <a:gdLst/>
              <a:ahLst/>
              <a:cxnLst/>
              <a:rect r="r" b="b" t="t" l="l"/>
              <a:pathLst>
                <a:path h="3810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85912" y="2404024"/>
            <a:ext cx="7129462" cy="111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 b="true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Academics First:</a:t>
            </a: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College academics remain important. Prioritize current semester subjects.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5912" y="3695252"/>
            <a:ext cx="7129462" cy="111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 b="true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Overlap:</a:t>
            </a: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Use overlapping subjects to build your GATE foundation.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85912" y="4986490"/>
            <a:ext cx="7129462" cy="111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 b="true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Practice &gt; Passive Learning:</a:t>
            </a: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Solve questions instead of only watching lectures.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5912" y="6277718"/>
            <a:ext cx="7129462" cy="111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 b="true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Minimalism:</a:t>
            </a: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Avoid unnecessary resource collection. Stick to standard books/materials.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5912" y="7568946"/>
            <a:ext cx="7129462" cy="1613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 b="true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Consistency:</a:t>
            </a:r>
            <a:r>
              <a:rPr lang="en-US" sz="247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Maintain regular revision and consistency rather than extreme study hours. Plan weekly, not minutely.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7288" y="2451649"/>
            <a:ext cx="114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7288" y="3742877"/>
            <a:ext cx="114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7288" y="5034115"/>
            <a:ext cx="114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7288" y="6325343"/>
            <a:ext cx="114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7288" y="7616571"/>
            <a:ext cx="1143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57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■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38228" y="2156374"/>
            <a:ext cx="11261777" cy="7008509"/>
            <a:chOff x="0" y="0"/>
            <a:chExt cx="24384000" cy="151748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5174824"/>
            </a:xfrm>
            <a:custGeom>
              <a:avLst/>
              <a:gdLst/>
              <a:ahLst/>
              <a:cxnLst/>
              <a:rect r="r" b="b" t="t" l="l"/>
              <a:pathLst>
                <a:path h="1517482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174824"/>
                  </a:lnTo>
                  <a:lnTo>
                    <a:pt x="0" y="15174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14" r="0" b="-2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57288" y="1908724"/>
            <a:ext cx="15973425" cy="28575"/>
            <a:chOff x="0" y="0"/>
            <a:chExt cx="212979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297900" cy="38100"/>
            </a:xfrm>
            <a:custGeom>
              <a:avLst/>
              <a:gdLst/>
              <a:ahLst/>
              <a:cxnLst/>
              <a:rect r="r" b="b" t="t" l="l"/>
              <a:pathLst>
                <a:path h="3810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6" id="6"/>
          <p:cNvPicPr>
            <a:picLocks noChangeAspect="true"/>
          </p:cNvPicPr>
          <p:nvPr>
            <a:videoFile r:link="rId4"/>
          </p:nvPr>
        </p:nvPicPr>
        <p:blipFill>
          <a:blip r:embed="rId3"/>
          <a:stretch>
            <a:fillRect/>
          </a:stretch>
        </p:blipFill>
        <p:spPr>
          <a:xfrm rot="0">
            <a:off x="5761423" y="6805766"/>
            <a:ext cx="8737469" cy="2359116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 rot="0">
            <a:off x="5761423" y="5143500"/>
            <a:ext cx="9238582" cy="1662266"/>
            <a:chOff x="0" y="0"/>
            <a:chExt cx="2433207" cy="4377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3207" cy="437799"/>
            </a:xfrm>
            <a:custGeom>
              <a:avLst/>
              <a:gdLst/>
              <a:ahLst/>
              <a:cxnLst/>
              <a:rect r="r" b="b" t="t" l="l"/>
              <a:pathLst>
                <a:path h="437799" w="2433207">
                  <a:moveTo>
                    <a:pt x="0" y="0"/>
                  </a:moveTo>
                  <a:lnTo>
                    <a:pt x="2433207" y="0"/>
                  </a:lnTo>
                  <a:lnTo>
                    <a:pt x="2433207" y="437799"/>
                  </a:lnTo>
                  <a:lnTo>
                    <a:pt x="0" y="437799"/>
                  </a:lnTo>
                  <a:close/>
                </a:path>
              </a:pathLst>
            </a:custGeom>
            <a:ln w="85725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04775"/>
              <a:ext cx="2433207" cy="542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6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57288" y="881063"/>
            <a:ext cx="769820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Youtube: Tattvam Gate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DAHSP6WN1LA</dc:identifier>
  <dcterms:modified xsi:type="dcterms:W3CDTF">2011-08-01T06:04:30Z</dcterms:modified>
  <cp:revision>1</cp:revision>
  <dc:title>GATE + College_ Start Early, Stay Ahead.pptx</dc:title>
</cp:coreProperties>
</file>