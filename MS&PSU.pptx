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al Bold" charset="1" panose="020B0704020202020204"/>
      <p:regular r:id="rId16"/>
    </p:embeddedFont>
    <p:embeddedFont>
      <p:font typeface="Arial" charset="1" panose="020B060402020202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gate2027.iitm.ac.in" TargetMode="External" Type="http://schemas.openxmlformats.org/officeDocument/2006/relationships/hyperlink"/><Relationship Id="rId5" Target="https://gate2027.iitm.ac.in/static/doc/IB/GATE2027-IB_v1.pdf"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89919" y="2851200"/>
            <a:ext cx="14108162" cy="2972435"/>
          </a:xfrm>
          <a:prstGeom prst="rect">
            <a:avLst/>
          </a:prstGeom>
        </p:spPr>
        <p:txBody>
          <a:bodyPr anchor="t" rtlCol="false" tIns="0" lIns="0" bIns="0" rIns="0">
            <a:spAutoFit/>
          </a:bodyPr>
          <a:lstStyle/>
          <a:p>
            <a:pPr algn="ctr">
              <a:lnSpc>
                <a:spcPts val="7840"/>
              </a:lnSpc>
            </a:pPr>
            <a:r>
              <a:rPr lang="en-US" sz="5600" b="true">
                <a:solidFill>
                  <a:srgbClr val="000000"/>
                </a:solidFill>
                <a:latin typeface="Arial Bold"/>
                <a:ea typeface="Arial Bold"/>
                <a:cs typeface="Arial Bold"/>
                <a:sym typeface="Arial Bold"/>
              </a:rPr>
              <a:t>Master’s Program in top colleges of India </a:t>
            </a:r>
          </a:p>
          <a:p>
            <a:pPr algn="ctr">
              <a:lnSpc>
                <a:spcPts val="7840"/>
              </a:lnSpc>
            </a:pPr>
            <a:r>
              <a:rPr lang="en-US" sz="5600" b="true">
                <a:solidFill>
                  <a:srgbClr val="000000"/>
                </a:solidFill>
                <a:latin typeface="Arial Bold"/>
                <a:ea typeface="Arial Bold"/>
                <a:cs typeface="Arial Bold"/>
                <a:sym typeface="Arial Bold"/>
              </a:rPr>
              <a:t>&amp; </a:t>
            </a:r>
          </a:p>
          <a:p>
            <a:pPr algn="ctr">
              <a:lnSpc>
                <a:spcPts val="7840"/>
              </a:lnSpc>
            </a:pPr>
            <a:r>
              <a:rPr lang="en-US" sz="5600" b="true">
                <a:solidFill>
                  <a:srgbClr val="000000"/>
                </a:solidFill>
                <a:latin typeface="Arial Bold"/>
                <a:ea typeface="Arial Bold"/>
                <a:cs typeface="Arial Bold"/>
                <a:sym typeface="Arial Bold"/>
              </a:rPr>
              <a:t>PSU’s opportunity (CS/IT)</a:t>
            </a:r>
          </a:p>
        </p:txBody>
      </p:sp>
      <p:sp>
        <p:nvSpPr>
          <p:cNvPr name="TextBox 4" id="4"/>
          <p:cNvSpPr txBox="true"/>
          <p:nvPr/>
        </p:nvSpPr>
        <p:spPr>
          <a:xfrm rot="0">
            <a:off x="6435098" y="6054909"/>
            <a:ext cx="5417803" cy="1199515"/>
          </a:xfrm>
          <a:prstGeom prst="rect">
            <a:avLst/>
          </a:prstGeom>
        </p:spPr>
        <p:txBody>
          <a:bodyPr anchor="t" rtlCol="false" tIns="0" lIns="0" bIns="0" rIns="0">
            <a:spAutoFit/>
          </a:bodyPr>
          <a:lstStyle/>
          <a:p>
            <a:pPr algn="ctr">
              <a:lnSpc>
                <a:spcPts val="4759"/>
              </a:lnSpc>
            </a:pPr>
            <a:r>
              <a:rPr lang="en-US" sz="3399">
                <a:solidFill>
                  <a:srgbClr val="000000"/>
                </a:solidFill>
                <a:latin typeface="Arial"/>
                <a:ea typeface="Arial"/>
                <a:cs typeface="Arial"/>
                <a:sym typeface="Arial"/>
              </a:rPr>
              <a:t>Saumya Pathak </a:t>
            </a:r>
          </a:p>
          <a:p>
            <a:pPr algn="ctr">
              <a:lnSpc>
                <a:spcPts val="4759"/>
              </a:lnSpc>
            </a:pPr>
            <a:r>
              <a:rPr lang="en-US" sz="3399">
                <a:solidFill>
                  <a:srgbClr val="000000"/>
                </a:solidFill>
                <a:latin typeface="Arial"/>
                <a:ea typeface="Arial"/>
                <a:cs typeface="Arial"/>
                <a:sym typeface="Arial"/>
              </a:rPr>
              <a:t>(B.Tech Student - DDU)</a:t>
            </a:r>
          </a:p>
        </p:txBody>
      </p:sp>
      <p:sp>
        <p:nvSpPr>
          <p:cNvPr name="TextBox 5" id="5"/>
          <p:cNvSpPr txBox="true"/>
          <p:nvPr/>
        </p:nvSpPr>
        <p:spPr>
          <a:xfrm rot="0">
            <a:off x="7332576" y="7485698"/>
            <a:ext cx="3622849" cy="599440"/>
          </a:xfrm>
          <a:prstGeom prst="rect">
            <a:avLst/>
          </a:prstGeom>
        </p:spPr>
        <p:txBody>
          <a:bodyPr anchor="t" rtlCol="false" tIns="0" lIns="0" bIns="0" rIns="0">
            <a:spAutoFit/>
          </a:bodyPr>
          <a:lstStyle/>
          <a:p>
            <a:pPr algn="ctr">
              <a:lnSpc>
                <a:spcPts val="4759"/>
              </a:lnSpc>
            </a:pPr>
            <a:r>
              <a:rPr lang="en-US" sz="3399" b="true">
                <a:solidFill>
                  <a:srgbClr val="000000"/>
                </a:solidFill>
                <a:latin typeface="Arial Bold"/>
                <a:ea typeface="Arial Bold"/>
                <a:cs typeface="Arial Bold"/>
                <a:sym typeface="Arial Bold"/>
              </a:rPr>
              <a:t>(9016639757)</a:t>
            </a:r>
          </a:p>
        </p:txBody>
      </p:sp>
      <p:sp>
        <p:nvSpPr>
          <p:cNvPr name="TextBox 6" id="6"/>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
        <p:nvSpPr>
          <p:cNvPr name="TextBox 4" id="4"/>
          <p:cNvSpPr txBox="true"/>
          <p:nvPr/>
        </p:nvSpPr>
        <p:spPr>
          <a:xfrm rot="0">
            <a:off x="6965305" y="141923"/>
            <a:ext cx="4357390" cy="840105"/>
          </a:xfrm>
          <a:prstGeom prst="rect">
            <a:avLst/>
          </a:prstGeom>
        </p:spPr>
        <p:txBody>
          <a:bodyPr anchor="t" rtlCol="false" tIns="0" lIns="0" bIns="0" rIns="0">
            <a:spAutoFit/>
          </a:bodyPr>
          <a:lstStyle/>
          <a:p>
            <a:pPr algn="ctr">
              <a:lnSpc>
                <a:spcPts val="6719"/>
              </a:lnSpc>
            </a:pPr>
            <a:r>
              <a:rPr lang="en-US" sz="4800" b="true">
                <a:solidFill>
                  <a:srgbClr val="000000"/>
                </a:solidFill>
                <a:latin typeface="Arial Bold"/>
                <a:ea typeface="Arial Bold"/>
                <a:cs typeface="Arial Bold"/>
                <a:sym typeface="Arial Bold"/>
              </a:rPr>
              <a:t>What is GATE?</a:t>
            </a:r>
          </a:p>
        </p:txBody>
      </p:sp>
      <p:sp>
        <p:nvSpPr>
          <p:cNvPr name="TextBox 5" id="5"/>
          <p:cNvSpPr txBox="true"/>
          <p:nvPr/>
        </p:nvSpPr>
        <p:spPr>
          <a:xfrm rot="0">
            <a:off x="126547" y="1818958"/>
            <a:ext cx="10513430" cy="5334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GATE -  Graduate Aptitude Test in Engineering</a:t>
            </a:r>
          </a:p>
        </p:txBody>
      </p:sp>
      <p:sp>
        <p:nvSpPr>
          <p:cNvPr name="TextBox 6" id="6"/>
          <p:cNvSpPr txBox="true"/>
          <p:nvPr/>
        </p:nvSpPr>
        <p:spPr>
          <a:xfrm rot="0">
            <a:off x="126547" y="2794953"/>
            <a:ext cx="17935347" cy="10668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Ranked among the top 5 toughest competitive examinations in India and among the world’s top 15 challenging exams by various educational and media sources.</a:t>
            </a:r>
          </a:p>
        </p:txBody>
      </p:sp>
      <p:sp>
        <p:nvSpPr>
          <p:cNvPr name="TextBox 7" id="7"/>
          <p:cNvSpPr txBox="true"/>
          <p:nvPr/>
        </p:nvSpPr>
        <p:spPr>
          <a:xfrm rot="0">
            <a:off x="126547" y="4332923"/>
            <a:ext cx="17935347" cy="16002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If you missed the opportunity to pursue your B.Tech at an IIT due to circumstances or inadequate preparation, GATE can give you another opportunity to pursue a postgraduate program at </a:t>
            </a:r>
          </a:p>
          <a:p>
            <a:pPr algn="l">
              <a:lnSpc>
                <a:spcPts val="4200"/>
              </a:lnSpc>
            </a:pPr>
            <a:r>
              <a:rPr lang="en-US" sz="3000" b="true">
                <a:solidFill>
                  <a:srgbClr val="000000"/>
                </a:solidFill>
                <a:latin typeface="Arial Bold"/>
                <a:ea typeface="Arial Bold"/>
                <a:cs typeface="Arial Bold"/>
                <a:sym typeface="Arial Bold"/>
              </a:rPr>
              <a:t>an IIT or IISc.</a:t>
            </a:r>
          </a:p>
        </p:txBody>
      </p:sp>
      <p:sp>
        <p:nvSpPr>
          <p:cNvPr name="TextBox 8" id="8"/>
          <p:cNvSpPr txBox="true"/>
          <p:nvPr/>
        </p:nvSpPr>
        <p:spPr>
          <a:xfrm rot="0">
            <a:off x="126547" y="6432867"/>
            <a:ext cx="17935347" cy="10668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GATE is conducted by the seven IITs &amp; IISc - Bengaluru under the guidance of </a:t>
            </a:r>
          </a:p>
          <a:p>
            <a:pPr algn="l">
              <a:lnSpc>
                <a:spcPts val="4200"/>
              </a:lnSpc>
            </a:pPr>
            <a:r>
              <a:rPr lang="en-US" sz="3000" b="true">
                <a:solidFill>
                  <a:srgbClr val="000000"/>
                </a:solidFill>
                <a:latin typeface="Arial Bold"/>
                <a:ea typeface="Arial Bold"/>
                <a:cs typeface="Arial Bold"/>
                <a:sym typeface="Arial Bold"/>
              </a:rPr>
              <a:t>National Coordination Board (NCB), Ministry of Education, Goverment of India.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170394" y="7223369"/>
            <a:ext cx="2542814" cy="3063631"/>
          </a:xfrm>
          <a:custGeom>
            <a:avLst/>
            <a:gdLst/>
            <a:ahLst/>
            <a:cxnLst/>
            <a:rect r="r" b="b" t="t" l="l"/>
            <a:pathLst>
              <a:path h="3063631" w="2542814">
                <a:moveTo>
                  <a:pt x="0" y="0"/>
                </a:moveTo>
                <a:lnTo>
                  <a:pt x="2542814" y="0"/>
                </a:lnTo>
                <a:lnTo>
                  <a:pt x="2542814" y="3063631"/>
                </a:lnTo>
                <a:lnTo>
                  <a:pt x="0" y="3063631"/>
                </a:lnTo>
                <a:lnTo>
                  <a:pt x="0" y="0"/>
                </a:lnTo>
                <a:close/>
              </a:path>
            </a:pathLst>
          </a:custGeom>
          <a:blipFill>
            <a:blip r:embed="rId4"/>
            <a:stretch>
              <a:fillRect l="0" t="0" r="0" b="0"/>
            </a:stretch>
          </a:blipFill>
        </p:spPr>
      </p:sp>
      <p:sp>
        <p:nvSpPr>
          <p:cNvPr name="Freeform 4" id="4"/>
          <p:cNvSpPr/>
          <p:nvPr/>
        </p:nvSpPr>
        <p:spPr>
          <a:xfrm flipH="false" flipV="false" rot="-321182">
            <a:off x="12874119" y="5637905"/>
            <a:ext cx="2665159" cy="2238733"/>
          </a:xfrm>
          <a:custGeom>
            <a:avLst/>
            <a:gdLst/>
            <a:ahLst/>
            <a:cxnLst/>
            <a:rect r="r" b="b" t="t" l="l"/>
            <a:pathLst>
              <a:path h="2238733" w="2665159">
                <a:moveTo>
                  <a:pt x="0" y="0"/>
                </a:moveTo>
                <a:lnTo>
                  <a:pt x="2665159" y="0"/>
                </a:lnTo>
                <a:lnTo>
                  <a:pt x="2665159" y="2238734"/>
                </a:lnTo>
                <a:lnTo>
                  <a:pt x="0" y="22387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875463" y="7014238"/>
            <a:ext cx="3377139" cy="1698093"/>
            <a:chOff x="0" y="0"/>
            <a:chExt cx="812800" cy="408692"/>
          </a:xfrm>
        </p:grpSpPr>
        <p:sp>
          <p:nvSpPr>
            <p:cNvPr name="Freeform 6" id="6"/>
            <p:cNvSpPr/>
            <p:nvPr/>
          </p:nvSpPr>
          <p:spPr>
            <a:xfrm flipH="false" flipV="false" rot="0">
              <a:off x="0" y="0"/>
              <a:ext cx="812800" cy="408692"/>
            </a:xfrm>
            <a:custGeom>
              <a:avLst/>
              <a:gdLst/>
              <a:ahLst/>
              <a:cxnLst/>
              <a:rect r="r" b="b" t="t" l="l"/>
              <a:pathLst>
                <a:path h="408692" w="812800">
                  <a:moveTo>
                    <a:pt x="0" y="0"/>
                  </a:moveTo>
                  <a:lnTo>
                    <a:pt x="812800" y="0"/>
                  </a:lnTo>
                  <a:lnTo>
                    <a:pt x="812800" y="408692"/>
                  </a:lnTo>
                  <a:lnTo>
                    <a:pt x="0" y="408692"/>
                  </a:lnTo>
                  <a:close/>
                </a:path>
              </a:pathLst>
            </a:custGeom>
            <a:solidFill>
              <a:srgbClr val="726262"/>
            </a:solidFill>
          </p:spPr>
        </p:sp>
        <p:sp>
          <p:nvSpPr>
            <p:cNvPr name="TextBox 7" id="7"/>
            <p:cNvSpPr txBox="true"/>
            <p:nvPr/>
          </p:nvSpPr>
          <p:spPr>
            <a:xfrm>
              <a:off x="0" y="-57150"/>
              <a:ext cx="812800" cy="465842"/>
            </a:xfrm>
            <a:prstGeom prst="rect">
              <a:avLst/>
            </a:prstGeom>
          </p:spPr>
          <p:txBody>
            <a:bodyPr anchor="ctr" rtlCol="false" tIns="50800" lIns="50800" bIns="50800" rIns="50800"/>
            <a:lstStyle/>
            <a:p>
              <a:pPr algn="ctr">
                <a:lnSpc>
                  <a:spcPts val="3359"/>
                </a:lnSpc>
              </a:pPr>
              <a:r>
                <a:rPr lang="en-US" b="true" sz="2399">
                  <a:solidFill>
                    <a:srgbClr val="000000"/>
                  </a:solidFill>
                  <a:latin typeface="Arial Bold"/>
                  <a:ea typeface="Arial Bold"/>
                  <a:cs typeface="Arial Bold"/>
                  <a:sym typeface="Arial Bold"/>
                </a:rPr>
                <a:t>Explore Yourself</a:t>
              </a:r>
            </a:p>
          </p:txBody>
        </p:sp>
      </p:grpSp>
      <p:sp>
        <p:nvSpPr>
          <p:cNvPr name="TextBox 8" id="8"/>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
        <p:nvSpPr>
          <p:cNvPr name="TextBox 9" id="9"/>
          <p:cNvSpPr txBox="true"/>
          <p:nvPr/>
        </p:nvSpPr>
        <p:spPr>
          <a:xfrm rot="0">
            <a:off x="3809554" y="141923"/>
            <a:ext cx="10668893" cy="840105"/>
          </a:xfrm>
          <a:prstGeom prst="rect">
            <a:avLst/>
          </a:prstGeom>
        </p:spPr>
        <p:txBody>
          <a:bodyPr anchor="t" rtlCol="false" tIns="0" lIns="0" bIns="0" rIns="0">
            <a:spAutoFit/>
          </a:bodyPr>
          <a:lstStyle/>
          <a:p>
            <a:pPr algn="ctr">
              <a:lnSpc>
                <a:spcPts val="6719"/>
              </a:lnSpc>
            </a:pPr>
            <a:r>
              <a:rPr lang="en-US" sz="4800" b="true">
                <a:solidFill>
                  <a:srgbClr val="000000"/>
                </a:solidFill>
                <a:latin typeface="Arial Bold"/>
                <a:ea typeface="Arial Bold"/>
                <a:cs typeface="Arial Bold"/>
                <a:sym typeface="Arial Bold"/>
              </a:rPr>
              <a:t>When Should I start my preparation?</a:t>
            </a:r>
          </a:p>
        </p:txBody>
      </p:sp>
      <p:sp>
        <p:nvSpPr>
          <p:cNvPr name="TextBox 10" id="10"/>
          <p:cNvSpPr txBox="true"/>
          <p:nvPr/>
        </p:nvSpPr>
        <p:spPr>
          <a:xfrm rot="0">
            <a:off x="176327" y="1402715"/>
            <a:ext cx="17935347" cy="21336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According to me, first year student have opportunity to explore yourself and understand whether I want to pursue a master's degree, do research, build a career in development, become a cloud engineer, work as an AI/ML engineer, or pursue a career in data science or in other computer science field. </a:t>
            </a:r>
          </a:p>
        </p:txBody>
      </p:sp>
      <p:sp>
        <p:nvSpPr>
          <p:cNvPr name="TextBox 11" id="11"/>
          <p:cNvSpPr txBox="true"/>
          <p:nvPr/>
        </p:nvSpPr>
        <p:spPr>
          <a:xfrm rot="0">
            <a:off x="176327" y="4066223"/>
            <a:ext cx="17935347" cy="16002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Once you have a clear idea and decide that you want to pursue a master's degree at a top Indian institute or go into research, you can start preparing for GATE. Once you make this decision, GATE becomes your primary goal.</a:t>
            </a:r>
          </a:p>
        </p:txBody>
      </p:sp>
      <p:grpSp>
        <p:nvGrpSpPr>
          <p:cNvPr name="Group 12" id="12"/>
          <p:cNvGrpSpPr/>
          <p:nvPr/>
        </p:nvGrpSpPr>
        <p:grpSpPr>
          <a:xfrm rot="0">
            <a:off x="7778797" y="7014238"/>
            <a:ext cx="3377139" cy="1698093"/>
            <a:chOff x="0" y="0"/>
            <a:chExt cx="812800" cy="408692"/>
          </a:xfrm>
        </p:grpSpPr>
        <p:sp>
          <p:nvSpPr>
            <p:cNvPr name="Freeform 13" id="13"/>
            <p:cNvSpPr/>
            <p:nvPr/>
          </p:nvSpPr>
          <p:spPr>
            <a:xfrm flipH="false" flipV="false" rot="0">
              <a:off x="0" y="0"/>
              <a:ext cx="812800" cy="408692"/>
            </a:xfrm>
            <a:custGeom>
              <a:avLst/>
              <a:gdLst/>
              <a:ahLst/>
              <a:cxnLst/>
              <a:rect r="r" b="b" t="t" l="l"/>
              <a:pathLst>
                <a:path h="408692" w="812800">
                  <a:moveTo>
                    <a:pt x="0" y="0"/>
                  </a:moveTo>
                  <a:lnTo>
                    <a:pt x="812800" y="0"/>
                  </a:lnTo>
                  <a:lnTo>
                    <a:pt x="812800" y="408692"/>
                  </a:lnTo>
                  <a:lnTo>
                    <a:pt x="0" y="408692"/>
                  </a:lnTo>
                  <a:close/>
                </a:path>
              </a:pathLst>
            </a:custGeom>
            <a:solidFill>
              <a:srgbClr val="726262"/>
            </a:solidFill>
          </p:spPr>
        </p:sp>
        <p:sp>
          <p:nvSpPr>
            <p:cNvPr name="TextBox 14" id="14"/>
            <p:cNvSpPr txBox="true"/>
            <p:nvPr/>
          </p:nvSpPr>
          <p:spPr>
            <a:xfrm>
              <a:off x="0" y="-57150"/>
              <a:ext cx="812800" cy="465842"/>
            </a:xfrm>
            <a:prstGeom prst="rect">
              <a:avLst/>
            </a:prstGeom>
          </p:spPr>
          <p:txBody>
            <a:bodyPr anchor="ctr" rtlCol="false" tIns="50800" lIns="50800" bIns="50800" rIns="50800"/>
            <a:lstStyle/>
            <a:p>
              <a:pPr algn="ctr">
                <a:lnSpc>
                  <a:spcPts val="3359"/>
                </a:lnSpc>
              </a:pPr>
              <a:r>
                <a:rPr lang="en-US" b="true" sz="2399">
                  <a:solidFill>
                    <a:srgbClr val="000000"/>
                  </a:solidFill>
                  <a:latin typeface="Arial Bold"/>
                  <a:ea typeface="Arial Bold"/>
                  <a:cs typeface="Arial Bold"/>
                  <a:sym typeface="Arial Bold"/>
                </a:rPr>
                <a:t>Set your primary goal</a:t>
              </a:r>
            </a:p>
          </p:txBody>
        </p:sp>
      </p:grpSp>
      <p:sp>
        <p:nvSpPr>
          <p:cNvPr name="AutoShape 15" id="15"/>
          <p:cNvSpPr/>
          <p:nvPr/>
        </p:nvSpPr>
        <p:spPr>
          <a:xfrm flipV="true">
            <a:off x="5252602" y="7863284"/>
            <a:ext cx="2526195" cy="20847"/>
          </a:xfrm>
          <a:prstGeom prst="line">
            <a:avLst/>
          </a:prstGeom>
          <a:ln cap="flat" w="104775">
            <a:solidFill>
              <a:srgbClr val="000000"/>
            </a:solidFill>
            <a:prstDash val="solid"/>
            <a:headEnd type="none" len="sm" w="sm"/>
            <a:tailEnd type="triangle" len="med" w="lg"/>
          </a:ln>
        </p:spPr>
      </p:sp>
      <p:sp>
        <p:nvSpPr>
          <p:cNvPr name="TextBox 16" id="16"/>
          <p:cNvSpPr txBox="true"/>
          <p:nvPr/>
        </p:nvSpPr>
        <p:spPr>
          <a:xfrm rot="0">
            <a:off x="13535406" y="5956617"/>
            <a:ext cx="1358877" cy="1484400"/>
          </a:xfrm>
          <a:prstGeom prst="rect">
            <a:avLst/>
          </a:prstGeom>
        </p:spPr>
        <p:txBody>
          <a:bodyPr anchor="t" rtlCol="false" tIns="0" lIns="0" bIns="0" rIns="0">
            <a:spAutoFit/>
          </a:bodyPr>
          <a:lstStyle/>
          <a:p>
            <a:pPr algn="ctr">
              <a:lnSpc>
                <a:spcPts val="1953"/>
              </a:lnSpc>
            </a:pPr>
            <a:r>
              <a:rPr lang="en-US" sz="1395" b="true">
                <a:solidFill>
                  <a:srgbClr val="000000"/>
                </a:solidFill>
                <a:latin typeface="Arial Bold"/>
                <a:ea typeface="Arial Bold"/>
                <a:cs typeface="Arial Bold"/>
                <a:sym typeface="Arial Bold"/>
              </a:rPr>
              <a:t>GATE?</a:t>
            </a:r>
          </a:p>
          <a:p>
            <a:pPr algn="ctr">
              <a:lnSpc>
                <a:spcPts val="1953"/>
              </a:lnSpc>
            </a:pPr>
            <a:r>
              <a:rPr lang="en-US" sz="1395" b="true">
                <a:solidFill>
                  <a:srgbClr val="000000"/>
                </a:solidFill>
                <a:latin typeface="Arial Bold"/>
                <a:ea typeface="Arial Bold"/>
                <a:cs typeface="Arial Bold"/>
                <a:sym typeface="Arial Bold"/>
              </a:rPr>
              <a:t>DSA?</a:t>
            </a:r>
          </a:p>
          <a:p>
            <a:pPr algn="ctr">
              <a:lnSpc>
                <a:spcPts val="1953"/>
              </a:lnSpc>
            </a:pPr>
            <a:r>
              <a:rPr lang="en-US" sz="1395" b="true">
                <a:solidFill>
                  <a:srgbClr val="000000"/>
                </a:solidFill>
                <a:latin typeface="Arial Bold"/>
                <a:ea typeface="Arial Bold"/>
                <a:cs typeface="Arial Bold"/>
                <a:sym typeface="Arial Bold"/>
              </a:rPr>
              <a:t>Cyber Security?</a:t>
            </a:r>
          </a:p>
          <a:p>
            <a:pPr algn="ctr">
              <a:lnSpc>
                <a:spcPts val="1953"/>
              </a:lnSpc>
            </a:pPr>
            <a:r>
              <a:rPr lang="en-US" sz="1395" b="true">
                <a:solidFill>
                  <a:srgbClr val="000000"/>
                </a:solidFill>
                <a:latin typeface="Arial Bold"/>
                <a:ea typeface="Arial Bold"/>
                <a:cs typeface="Arial Bold"/>
                <a:sym typeface="Arial Bold"/>
              </a:rPr>
              <a:t>Devlopment?</a:t>
            </a:r>
          </a:p>
          <a:p>
            <a:pPr algn="ctr">
              <a:lnSpc>
                <a:spcPts val="1953"/>
              </a:lnSpc>
            </a:pPr>
            <a:r>
              <a:rPr lang="en-US" sz="1395" b="true">
                <a:solidFill>
                  <a:srgbClr val="000000"/>
                </a:solidFill>
                <a:latin typeface="Arial Bold"/>
                <a:ea typeface="Arial Bold"/>
                <a:cs typeface="Arial Bold"/>
                <a:sym typeface="Arial Bold"/>
              </a:rPr>
              <a:t>AI/ML?</a:t>
            </a:r>
          </a:p>
          <a:p>
            <a:pPr algn="ctr">
              <a:lnSpc>
                <a:spcPts val="1953"/>
              </a:lnSpc>
              <a:spcBef>
                <a:spcPct val="0"/>
              </a:spcBef>
            </a:pPr>
            <a:r>
              <a:rPr lang="en-US" b="true" sz="1395">
                <a:solidFill>
                  <a:srgbClr val="000000"/>
                </a:solidFill>
                <a:latin typeface="Arial Bold"/>
                <a:ea typeface="Arial Bold"/>
                <a:cs typeface="Arial Bold"/>
                <a:sym typeface="Arial Bold"/>
              </a:rPr>
              <a:t>Others?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
        <p:nvSpPr>
          <p:cNvPr name="TextBox 4" id="4"/>
          <p:cNvSpPr txBox="true"/>
          <p:nvPr/>
        </p:nvSpPr>
        <p:spPr>
          <a:xfrm rot="0">
            <a:off x="126547" y="180023"/>
            <a:ext cx="17935347" cy="21336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After the second year, your core subjects and development-related subjects generally start becoming more prominent. At this stage, you may feel that you haven’t done enough during your first year, and you might even regret not exploring different areas earlier. You may also find yourself constantly thinking about your career.</a:t>
            </a:r>
          </a:p>
        </p:txBody>
      </p:sp>
      <p:sp>
        <p:nvSpPr>
          <p:cNvPr name="TextBox 5" id="5"/>
          <p:cNvSpPr txBox="true"/>
          <p:nvPr/>
        </p:nvSpPr>
        <p:spPr>
          <a:xfrm rot="0">
            <a:off x="126547" y="2502634"/>
            <a:ext cx="4248302" cy="1054218"/>
          </a:xfrm>
          <a:prstGeom prst="rect">
            <a:avLst/>
          </a:prstGeom>
        </p:spPr>
        <p:txBody>
          <a:bodyPr anchor="t" rtlCol="false" tIns="0" lIns="0" bIns="0" rIns="0">
            <a:spAutoFit/>
          </a:bodyPr>
          <a:lstStyle/>
          <a:p>
            <a:pPr algn="l" marL="430793" indent="-215397" lvl="1">
              <a:lnSpc>
                <a:spcPts val="2793"/>
              </a:lnSpc>
              <a:buAutoNum type="arabicPeriod" startAt="1"/>
            </a:pPr>
            <a:r>
              <a:rPr lang="en-US" b="true" sz="1995">
                <a:solidFill>
                  <a:srgbClr val="000000"/>
                </a:solidFill>
                <a:latin typeface="Arial Bold"/>
                <a:ea typeface="Arial Bold"/>
                <a:cs typeface="Arial Bold"/>
                <a:sym typeface="Arial Bold"/>
              </a:rPr>
              <a:t>What should I do? </a:t>
            </a:r>
          </a:p>
          <a:p>
            <a:pPr algn="l" marL="430793" indent="-215397" lvl="1">
              <a:lnSpc>
                <a:spcPts val="2793"/>
              </a:lnSpc>
              <a:buAutoNum type="arabicPeriod" startAt="1"/>
            </a:pPr>
            <a:r>
              <a:rPr lang="en-US" b="true" sz="1995">
                <a:solidFill>
                  <a:srgbClr val="000000"/>
                </a:solidFill>
                <a:latin typeface="Arial Bold"/>
                <a:ea typeface="Arial Bold"/>
                <a:cs typeface="Arial Bold"/>
                <a:sym typeface="Arial Bold"/>
              </a:rPr>
              <a:t>Which field is best for me?</a:t>
            </a:r>
          </a:p>
          <a:p>
            <a:pPr algn="l" marL="430793" indent="-215397" lvl="1">
              <a:lnSpc>
                <a:spcPts val="2793"/>
              </a:lnSpc>
              <a:buAutoNum type="arabicPeriod" startAt="1"/>
            </a:pPr>
            <a:r>
              <a:rPr lang="en-US" b="true" sz="1995">
                <a:solidFill>
                  <a:srgbClr val="000000"/>
                </a:solidFill>
                <a:latin typeface="Arial Bold"/>
                <a:ea typeface="Arial Bold"/>
                <a:cs typeface="Arial Bold"/>
                <a:sym typeface="Arial Bold"/>
              </a:rPr>
              <a:t>What should I choose?</a:t>
            </a:r>
          </a:p>
        </p:txBody>
      </p:sp>
      <p:sp>
        <p:nvSpPr>
          <p:cNvPr name="TextBox 6" id="6"/>
          <p:cNvSpPr txBox="true"/>
          <p:nvPr/>
        </p:nvSpPr>
        <p:spPr>
          <a:xfrm rot="0">
            <a:off x="126547" y="3891865"/>
            <a:ext cx="17935347" cy="16002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Even if you reach this stage, don’t panic. Try to identify the field that genuinely makes you curious and interested. If you naturally enjoy learning about something and feel motivated to explore it further, that can be a strong indication that you should consider building your career in that field.</a:t>
            </a:r>
          </a:p>
        </p:txBody>
      </p:sp>
      <p:sp>
        <p:nvSpPr>
          <p:cNvPr name="TextBox 7" id="7"/>
          <p:cNvSpPr txBox="true"/>
          <p:nvPr/>
        </p:nvSpPr>
        <p:spPr>
          <a:xfrm rot="0">
            <a:off x="176327" y="6003290"/>
            <a:ext cx="17935347" cy="16002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After setting your primary goal, avoid constantly changing your direction based on what is trending. For example, you may see that Prompt Engineering is currently trending and think, </a:t>
            </a:r>
          </a:p>
          <a:p>
            <a:pPr algn="l">
              <a:lnSpc>
                <a:spcPts val="4200"/>
              </a:lnSpc>
            </a:pPr>
            <a:r>
              <a:rPr lang="en-US" sz="3000" b="true">
                <a:solidFill>
                  <a:srgbClr val="000000"/>
                </a:solidFill>
                <a:latin typeface="Arial Bold"/>
                <a:ea typeface="Arial Bold"/>
                <a:cs typeface="Arial Bold"/>
                <a:sym typeface="Arial Bold"/>
              </a:rPr>
              <a:t>“I should learn this.” </a:t>
            </a:r>
          </a:p>
        </p:txBody>
      </p:sp>
      <p:sp>
        <p:nvSpPr>
          <p:cNvPr name="TextBox 8" id="8"/>
          <p:cNvSpPr txBox="true"/>
          <p:nvPr/>
        </p:nvSpPr>
        <p:spPr>
          <a:xfrm rot="0">
            <a:off x="176327" y="7822565"/>
            <a:ext cx="17935347" cy="1600200"/>
          </a:xfrm>
          <a:prstGeom prst="rect">
            <a:avLst/>
          </a:prstGeom>
        </p:spPr>
        <p:txBody>
          <a:bodyPr anchor="t" rtlCol="false" tIns="0" lIns="0" bIns="0" rIns="0">
            <a:spAutoFit/>
          </a:bodyPr>
          <a:lstStyle/>
          <a:p>
            <a:pPr algn="l">
              <a:lnSpc>
                <a:spcPts val="4200"/>
              </a:lnSpc>
            </a:pPr>
            <a:r>
              <a:rPr lang="en-US" sz="3000" b="true">
                <a:solidFill>
                  <a:srgbClr val="000000"/>
                </a:solidFill>
                <a:latin typeface="Arial Bold"/>
                <a:ea typeface="Arial Bold"/>
                <a:cs typeface="Arial Bold"/>
                <a:sym typeface="Arial Bold"/>
              </a:rPr>
              <a:t>This approach can make you lose focus and keep you jumping from one technology to another. Learn new technologies when they align with your primary goal and career path, not simply because they are trending or someone else is learning them</a:t>
            </a:r>
          </a:p>
        </p:txBody>
      </p:sp>
      <p:sp>
        <p:nvSpPr>
          <p:cNvPr name="AutoShape 9" id="9"/>
          <p:cNvSpPr/>
          <p:nvPr/>
        </p:nvSpPr>
        <p:spPr>
          <a:xfrm flipV="true">
            <a:off x="-538145" y="5822315"/>
            <a:ext cx="19505132" cy="0"/>
          </a:xfrm>
          <a:prstGeom prst="line">
            <a:avLst/>
          </a:prstGeom>
          <a:ln cap="flat" w="66675">
            <a:solidFill>
              <a:srgbClr val="FF3131"/>
            </a:solidFill>
            <a:prstDash val="sysDot"/>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
        <p:nvSpPr>
          <p:cNvPr name="TextBox 4" id="4"/>
          <p:cNvSpPr txBox="true"/>
          <p:nvPr/>
        </p:nvSpPr>
        <p:spPr>
          <a:xfrm rot="0">
            <a:off x="1425476" y="141923"/>
            <a:ext cx="15437048" cy="840105"/>
          </a:xfrm>
          <a:prstGeom prst="rect">
            <a:avLst/>
          </a:prstGeom>
        </p:spPr>
        <p:txBody>
          <a:bodyPr anchor="t" rtlCol="false" tIns="0" lIns="0" bIns="0" rIns="0">
            <a:spAutoFit/>
          </a:bodyPr>
          <a:lstStyle/>
          <a:p>
            <a:pPr algn="ctr">
              <a:lnSpc>
                <a:spcPts val="6719"/>
              </a:lnSpc>
            </a:pPr>
            <a:r>
              <a:rPr lang="en-US" sz="4800" b="true">
                <a:solidFill>
                  <a:srgbClr val="000000"/>
                </a:solidFill>
                <a:latin typeface="Arial Bold"/>
                <a:ea typeface="Arial Bold"/>
                <a:cs typeface="Arial Bold"/>
                <a:sym typeface="Arial Bold"/>
              </a:rPr>
              <a:t>If I am preparing for placements, is GATE necessary?</a:t>
            </a:r>
          </a:p>
        </p:txBody>
      </p:sp>
      <p:sp>
        <p:nvSpPr>
          <p:cNvPr name="TextBox 5" id="5"/>
          <p:cNvSpPr txBox="true"/>
          <p:nvPr/>
        </p:nvSpPr>
        <p:spPr>
          <a:xfrm rot="0">
            <a:off x="176327" y="1394776"/>
            <a:ext cx="17935347" cy="2814320"/>
          </a:xfrm>
          <a:prstGeom prst="rect">
            <a:avLst/>
          </a:prstGeom>
        </p:spPr>
        <p:txBody>
          <a:bodyPr anchor="t" rtlCol="false" tIns="0" lIns="0" bIns="0" rIns="0">
            <a:spAutoFit/>
          </a:bodyPr>
          <a:lstStyle/>
          <a:p>
            <a:pPr algn="l">
              <a:lnSpc>
                <a:spcPts val="4480"/>
              </a:lnSpc>
            </a:pPr>
            <a:r>
              <a:rPr lang="en-US" sz="3200" b="true">
                <a:solidFill>
                  <a:srgbClr val="000000"/>
                </a:solidFill>
                <a:latin typeface="Arial Bold"/>
                <a:ea typeface="Arial Bold"/>
                <a:cs typeface="Arial Bold"/>
                <a:sym typeface="Arial Bold"/>
              </a:rPr>
              <a:t>According to me, if you are preparing for placements, especially if you are from a Tier-2 or Tier-3 college, you need to have strong fundamentals in certain subjects to build a solid foundation. These include Data Structures, Algorithms, DBMS and Operating Systems. </a:t>
            </a:r>
          </a:p>
          <a:p>
            <a:pPr algn="l">
              <a:lnSpc>
                <a:spcPts val="4480"/>
              </a:lnSpc>
            </a:pPr>
            <a:r>
              <a:rPr lang="en-US" sz="3200" b="true">
                <a:solidFill>
                  <a:srgbClr val="000000"/>
                </a:solidFill>
                <a:latin typeface="Arial Bold"/>
                <a:ea typeface="Arial Bold"/>
                <a:cs typeface="Arial Bold"/>
                <a:sym typeface="Arial Bold"/>
              </a:rPr>
              <a:t>Along with technical subjects, you should also have a good understanding of General Aptitude and Verbal Aptitude, as aptitude is commonly included in placement assessments.</a:t>
            </a:r>
          </a:p>
        </p:txBody>
      </p:sp>
      <p:sp>
        <p:nvSpPr>
          <p:cNvPr name="TextBox 6" id="6"/>
          <p:cNvSpPr txBox="true"/>
          <p:nvPr/>
        </p:nvSpPr>
        <p:spPr>
          <a:xfrm rot="0">
            <a:off x="166802" y="4618671"/>
            <a:ext cx="17935347" cy="2252345"/>
          </a:xfrm>
          <a:prstGeom prst="rect">
            <a:avLst/>
          </a:prstGeom>
        </p:spPr>
        <p:txBody>
          <a:bodyPr anchor="t" rtlCol="false" tIns="0" lIns="0" bIns="0" rIns="0">
            <a:spAutoFit/>
          </a:bodyPr>
          <a:lstStyle/>
          <a:p>
            <a:pPr algn="l">
              <a:lnSpc>
                <a:spcPts val="4480"/>
              </a:lnSpc>
            </a:pPr>
            <a:r>
              <a:rPr lang="en-US" sz="3200" b="true">
                <a:solidFill>
                  <a:srgbClr val="000000"/>
                </a:solidFill>
                <a:latin typeface="Arial Bold"/>
                <a:ea typeface="Arial Bold"/>
                <a:cs typeface="Arial Bold"/>
                <a:sym typeface="Arial Bold"/>
              </a:rPr>
              <a:t>I</a:t>
            </a:r>
            <a:r>
              <a:rPr lang="en-US" sz="3200" b="true">
                <a:solidFill>
                  <a:srgbClr val="000000"/>
                </a:solidFill>
                <a:latin typeface="Arial Bold"/>
                <a:ea typeface="Arial Bold"/>
                <a:cs typeface="Arial Bold"/>
                <a:sym typeface="Arial Bold"/>
              </a:rPr>
              <a:t> would suggest that if your primary goal is placement, you should prepare the subjects that are most important for your target placements. This will not only help you perform better in placement rounds but also help you build a strong foundation and develop a better conceptual understanding of your core subjects.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
        <p:nvSpPr>
          <p:cNvPr name="TextBox 4" id="4"/>
          <p:cNvSpPr txBox="true"/>
          <p:nvPr/>
        </p:nvSpPr>
        <p:spPr>
          <a:xfrm rot="0">
            <a:off x="4014415" y="141923"/>
            <a:ext cx="10259169" cy="807085"/>
          </a:xfrm>
          <a:prstGeom prst="rect">
            <a:avLst/>
          </a:prstGeom>
        </p:spPr>
        <p:txBody>
          <a:bodyPr anchor="t" rtlCol="false" tIns="0" lIns="0" bIns="0" rIns="0">
            <a:spAutoFit/>
          </a:bodyPr>
          <a:lstStyle/>
          <a:p>
            <a:pPr algn="ctr">
              <a:lnSpc>
                <a:spcPts val="6440"/>
              </a:lnSpc>
            </a:pPr>
            <a:r>
              <a:rPr lang="en-US" sz="4600" b="true">
                <a:solidFill>
                  <a:srgbClr val="000000"/>
                </a:solidFill>
                <a:latin typeface="Arial Bold"/>
                <a:ea typeface="Arial Bold"/>
                <a:cs typeface="Arial Bold"/>
                <a:sym typeface="Arial Bold"/>
              </a:rPr>
              <a:t>Subject Overview &amp; Marking Scheme</a:t>
            </a:r>
          </a:p>
        </p:txBody>
      </p:sp>
      <p:sp>
        <p:nvSpPr>
          <p:cNvPr name="TextBox 5" id="5"/>
          <p:cNvSpPr txBox="true"/>
          <p:nvPr/>
        </p:nvSpPr>
        <p:spPr>
          <a:xfrm rot="0">
            <a:off x="211488" y="1672247"/>
            <a:ext cx="5979427" cy="500380"/>
          </a:xfrm>
          <a:prstGeom prst="rect">
            <a:avLst/>
          </a:prstGeom>
        </p:spPr>
        <p:txBody>
          <a:bodyPr anchor="t" rtlCol="false" tIns="0" lIns="0" bIns="0" rIns="0">
            <a:spAutoFit/>
          </a:bodyPr>
          <a:lstStyle/>
          <a:p>
            <a:pPr algn="l">
              <a:lnSpc>
                <a:spcPts val="3919"/>
              </a:lnSpc>
            </a:pPr>
            <a:r>
              <a:rPr lang="en-US" sz="2799" b="true">
                <a:solidFill>
                  <a:srgbClr val="000000"/>
                </a:solidFill>
                <a:latin typeface="Arial Bold"/>
                <a:ea typeface="Arial Bold"/>
                <a:cs typeface="Arial Bold"/>
                <a:sym typeface="Arial Bold"/>
              </a:rPr>
              <a:t>GATE - Subjects Overview (CS/IT)</a:t>
            </a:r>
          </a:p>
        </p:txBody>
      </p:sp>
      <p:sp>
        <p:nvSpPr>
          <p:cNvPr name="TextBox 6" id="6"/>
          <p:cNvSpPr txBox="true"/>
          <p:nvPr/>
        </p:nvSpPr>
        <p:spPr>
          <a:xfrm rot="0">
            <a:off x="126547" y="2286927"/>
            <a:ext cx="5342409" cy="4727573"/>
          </a:xfrm>
          <a:prstGeom prst="rect">
            <a:avLst/>
          </a:prstGeom>
        </p:spPr>
        <p:txBody>
          <a:bodyPr anchor="t" rtlCol="false" tIns="0" lIns="0" bIns="0" rIns="0">
            <a:spAutoFit/>
          </a:bodyPr>
          <a:lstStyle/>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Engineering Mathematics (Including DM)</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Digital Logic</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Computer Organization &amp; Architecture</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Programming &amp; Data Structures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Algorithms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Theory of Computation</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Compiler Design</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Operating Systems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Databases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Computer Networks</a:t>
            </a:r>
          </a:p>
        </p:txBody>
      </p:sp>
      <p:sp>
        <p:nvSpPr>
          <p:cNvPr name="TextBox 7" id="7"/>
          <p:cNvSpPr txBox="true"/>
          <p:nvPr/>
        </p:nvSpPr>
        <p:spPr>
          <a:xfrm rot="0">
            <a:off x="211488" y="7283132"/>
            <a:ext cx="1749670" cy="500380"/>
          </a:xfrm>
          <a:prstGeom prst="rect">
            <a:avLst/>
          </a:prstGeom>
        </p:spPr>
        <p:txBody>
          <a:bodyPr anchor="t" rtlCol="false" tIns="0" lIns="0" bIns="0" rIns="0">
            <a:spAutoFit/>
          </a:bodyPr>
          <a:lstStyle/>
          <a:p>
            <a:pPr algn="l">
              <a:lnSpc>
                <a:spcPts val="3919"/>
              </a:lnSpc>
            </a:pPr>
            <a:r>
              <a:rPr lang="en-US" sz="2799" b="true">
                <a:solidFill>
                  <a:srgbClr val="000000"/>
                </a:solidFill>
                <a:latin typeface="Arial Bold"/>
                <a:ea typeface="Arial Bold"/>
                <a:cs typeface="Arial Bold"/>
                <a:sym typeface="Arial Bold"/>
              </a:rPr>
              <a:t>Aptitude</a:t>
            </a:r>
          </a:p>
        </p:txBody>
      </p:sp>
      <p:sp>
        <p:nvSpPr>
          <p:cNvPr name="TextBox 8" id="8"/>
          <p:cNvSpPr txBox="true"/>
          <p:nvPr/>
        </p:nvSpPr>
        <p:spPr>
          <a:xfrm rot="0">
            <a:off x="126547" y="7897813"/>
            <a:ext cx="2539231" cy="917573"/>
          </a:xfrm>
          <a:prstGeom prst="rect">
            <a:avLst/>
          </a:prstGeom>
        </p:spPr>
        <p:txBody>
          <a:bodyPr anchor="t" rtlCol="false" tIns="0" lIns="0" bIns="0" rIns="0">
            <a:spAutoFit/>
          </a:bodyPr>
          <a:lstStyle/>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General Aptitude </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 Verbal Aptitude</a:t>
            </a:r>
          </a:p>
        </p:txBody>
      </p:sp>
      <p:sp>
        <p:nvSpPr>
          <p:cNvPr name="AutoShape 9" id="9"/>
          <p:cNvSpPr/>
          <p:nvPr/>
        </p:nvSpPr>
        <p:spPr>
          <a:xfrm>
            <a:off x="6691155" y="1660789"/>
            <a:ext cx="0" cy="7154597"/>
          </a:xfrm>
          <a:prstGeom prst="line">
            <a:avLst/>
          </a:prstGeom>
          <a:ln cap="flat" w="38100">
            <a:solidFill>
              <a:srgbClr val="000000"/>
            </a:solidFill>
            <a:prstDash val="solid"/>
            <a:headEnd type="none" len="sm" w="sm"/>
            <a:tailEnd type="none" len="sm" w="sm"/>
          </a:ln>
        </p:spPr>
      </p:sp>
      <p:sp>
        <p:nvSpPr>
          <p:cNvPr name="AutoShape 10" id="10"/>
          <p:cNvSpPr/>
          <p:nvPr/>
        </p:nvSpPr>
        <p:spPr>
          <a:xfrm>
            <a:off x="12704531" y="1660789"/>
            <a:ext cx="0" cy="7154597"/>
          </a:xfrm>
          <a:prstGeom prst="line">
            <a:avLst/>
          </a:prstGeom>
          <a:ln cap="flat" w="38100">
            <a:solidFill>
              <a:srgbClr val="000000"/>
            </a:solidFill>
            <a:prstDash val="solid"/>
            <a:headEnd type="none" len="sm" w="sm"/>
            <a:tailEnd type="none" len="sm" w="sm"/>
          </a:ln>
        </p:spPr>
      </p:sp>
      <p:sp>
        <p:nvSpPr>
          <p:cNvPr name="TextBox 11" id="11"/>
          <p:cNvSpPr txBox="true"/>
          <p:nvPr/>
        </p:nvSpPr>
        <p:spPr>
          <a:xfrm rot="0">
            <a:off x="6691155" y="2636260"/>
            <a:ext cx="4835723" cy="4727573"/>
          </a:xfrm>
          <a:prstGeom prst="rect">
            <a:avLst/>
          </a:prstGeom>
        </p:spPr>
        <p:txBody>
          <a:bodyPr anchor="t" rtlCol="false" tIns="0" lIns="0" bIns="0" rIns="0">
            <a:spAutoFit/>
          </a:bodyPr>
          <a:lstStyle/>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Aptitude - 15 marks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Engineering Mathematics - 13 marks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Core Subjects - 72 marks</a:t>
            </a:r>
          </a:p>
          <a:p>
            <a:pPr algn="l">
              <a:lnSpc>
                <a:spcPts val="3800"/>
              </a:lnSpc>
            </a:pP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Total Questions - 65</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Questions Type: MCQ, MSQ, NAT</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Negative Marking:</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1 mark MCQ → ⅓ marks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2 mark MCQ → ⅔ marks</a:t>
            </a:r>
          </a:p>
          <a:p>
            <a:pPr algn="l" marL="431804" indent="-215902" lvl="1">
              <a:lnSpc>
                <a:spcPts val="3800"/>
              </a:lnSpc>
              <a:buFont typeface="Arial"/>
              <a:buChar char="•"/>
            </a:pPr>
            <a:r>
              <a:rPr lang="en-US" b="true" sz="2000">
                <a:solidFill>
                  <a:srgbClr val="000000"/>
                </a:solidFill>
                <a:latin typeface="Arial Bold"/>
                <a:ea typeface="Arial Bold"/>
                <a:cs typeface="Arial Bold"/>
                <a:sym typeface="Arial Bold"/>
              </a:rPr>
              <a:t>No negative marking in MSQ &amp; NAT</a:t>
            </a:r>
          </a:p>
        </p:txBody>
      </p:sp>
      <p:sp>
        <p:nvSpPr>
          <p:cNvPr name="TextBox 12" id="12"/>
          <p:cNvSpPr txBox="true"/>
          <p:nvPr/>
        </p:nvSpPr>
        <p:spPr>
          <a:xfrm rot="0">
            <a:off x="6963553" y="1672247"/>
            <a:ext cx="3833366" cy="500380"/>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Arial Bold"/>
                <a:ea typeface="Arial Bold"/>
                <a:cs typeface="Arial Bold"/>
                <a:sym typeface="Arial Bold"/>
              </a:rPr>
              <a:t>CS/IT Marking Scheme</a:t>
            </a:r>
          </a:p>
        </p:txBody>
      </p:sp>
      <p:sp>
        <p:nvSpPr>
          <p:cNvPr name="TextBox 13" id="13"/>
          <p:cNvSpPr txBox="true"/>
          <p:nvPr/>
        </p:nvSpPr>
        <p:spPr>
          <a:xfrm rot="0">
            <a:off x="12980756" y="1884337"/>
            <a:ext cx="5116303" cy="1939924"/>
          </a:xfrm>
          <a:prstGeom prst="rect">
            <a:avLst/>
          </a:prstGeom>
        </p:spPr>
        <p:txBody>
          <a:bodyPr anchor="t" rtlCol="false" tIns="0" lIns="0" bIns="0" rIns="0">
            <a:spAutoFit/>
          </a:bodyPr>
          <a:lstStyle/>
          <a:p>
            <a:pPr algn="l" marL="431804" indent="-215902" lvl="1">
              <a:lnSpc>
                <a:spcPts val="3100"/>
              </a:lnSpc>
              <a:buFont typeface="Arial"/>
              <a:buChar char="•"/>
            </a:pPr>
            <a:r>
              <a:rPr lang="en-US" b="true" sz="2000">
                <a:solidFill>
                  <a:srgbClr val="000000"/>
                </a:solidFill>
                <a:latin typeface="Arial Bold"/>
                <a:ea typeface="Arial Bold"/>
                <a:cs typeface="Arial Bold"/>
                <a:sym typeface="Arial Bold"/>
              </a:rPr>
              <a:t>Y</a:t>
            </a:r>
            <a:r>
              <a:rPr lang="en-US" b="true" sz="2000">
                <a:solidFill>
                  <a:srgbClr val="000000"/>
                </a:solidFill>
                <a:latin typeface="Arial Bold"/>
                <a:ea typeface="Arial Bold"/>
                <a:cs typeface="Arial Bold"/>
                <a:sym typeface="Arial Bold"/>
              </a:rPr>
              <a:t>ou are eligible to appear for GATE from the 3rd year of your undergraduate degree.</a:t>
            </a:r>
          </a:p>
          <a:p>
            <a:pPr algn="l">
              <a:lnSpc>
                <a:spcPts val="3100"/>
              </a:lnSpc>
            </a:pPr>
          </a:p>
          <a:p>
            <a:pPr algn="l" marL="431804" indent="-215902" lvl="1">
              <a:lnSpc>
                <a:spcPts val="3100"/>
              </a:lnSpc>
              <a:buFont typeface="Arial"/>
              <a:buChar char="•"/>
            </a:pPr>
            <a:r>
              <a:rPr lang="en-US" b="true" sz="2000">
                <a:solidFill>
                  <a:srgbClr val="000000"/>
                </a:solidFill>
                <a:latin typeface="Arial Bold"/>
                <a:ea typeface="Arial Bold"/>
                <a:cs typeface="Arial Bold"/>
                <a:sym typeface="Arial Bold"/>
              </a:rPr>
              <a:t>A GATE scorecard is valid for 3 years.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
        <p:nvSpPr>
          <p:cNvPr name="TextBox 4" id="4"/>
          <p:cNvSpPr txBox="true"/>
          <p:nvPr/>
        </p:nvSpPr>
        <p:spPr>
          <a:xfrm rot="0">
            <a:off x="6314852" y="141923"/>
            <a:ext cx="5658296" cy="807085"/>
          </a:xfrm>
          <a:prstGeom prst="rect">
            <a:avLst/>
          </a:prstGeom>
        </p:spPr>
        <p:txBody>
          <a:bodyPr anchor="t" rtlCol="false" tIns="0" lIns="0" bIns="0" rIns="0">
            <a:spAutoFit/>
          </a:bodyPr>
          <a:lstStyle/>
          <a:p>
            <a:pPr algn="ctr">
              <a:lnSpc>
                <a:spcPts val="6440"/>
              </a:lnSpc>
            </a:pPr>
            <a:r>
              <a:rPr lang="en-US" sz="4600" b="true">
                <a:solidFill>
                  <a:srgbClr val="000000"/>
                </a:solidFill>
                <a:latin typeface="Arial Bold"/>
                <a:ea typeface="Arial Bold"/>
                <a:cs typeface="Arial Bold"/>
                <a:sym typeface="Arial Bold"/>
              </a:rPr>
              <a:t>PSU’s Opportunities</a:t>
            </a:r>
          </a:p>
        </p:txBody>
      </p:sp>
      <p:sp>
        <p:nvSpPr>
          <p:cNvPr name="TextBox 5" id="5"/>
          <p:cNvSpPr txBox="true"/>
          <p:nvPr/>
        </p:nvSpPr>
        <p:spPr>
          <a:xfrm rot="0">
            <a:off x="126547" y="1527344"/>
            <a:ext cx="16990970" cy="514350"/>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Arial Bold"/>
                <a:ea typeface="Arial Bold"/>
                <a:cs typeface="Arial Bold"/>
                <a:sym typeface="Arial Bold"/>
              </a:rPr>
              <a:t>GATE scores can be used for recruitment in various Public Sector Undertakings (PSUs).</a:t>
            </a:r>
          </a:p>
        </p:txBody>
      </p:sp>
      <p:sp>
        <p:nvSpPr>
          <p:cNvPr name="TextBox 6" id="6"/>
          <p:cNvSpPr txBox="true"/>
          <p:nvPr/>
        </p:nvSpPr>
        <p:spPr>
          <a:xfrm rot="0">
            <a:off x="0" y="2337227"/>
            <a:ext cx="7502872" cy="3197227"/>
          </a:xfrm>
          <a:prstGeom prst="rect">
            <a:avLst/>
          </a:prstGeom>
        </p:spPr>
        <p:txBody>
          <a:bodyPr anchor="t" rtlCol="false" tIns="0" lIns="0" bIns="0" rIns="0">
            <a:spAutoFit/>
          </a:bodyPr>
          <a:lstStyle/>
          <a:p>
            <a:pPr algn="just" marL="431797" indent="-215899" lvl="1">
              <a:lnSpc>
                <a:spcPts val="4299"/>
              </a:lnSpc>
              <a:buFont typeface="Arial"/>
              <a:buChar char="•"/>
            </a:pPr>
            <a:r>
              <a:rPr lang="en-US" b="true" sz="1999">
                <a:solidFill>
                  <a:srgbClr val="000000"/>
                </a:solidFill>
                <a:latin typeface="Arial Bold"/>
                <a:ea typeface="Arial Bold"/>
                <a:cs typeface="Arial Bold"/>
                <a:sym typeface="Arial Bold"/>
              </a:rPr>
              <a:t>DRDO  - Defence Research and Development Organisation</a:t>
            </a:r>
          </a:p>
          <a:p>
            <a:pPr algn="just" marL="431797" indent="-215899" lvl="1">
              <a:lnSpc>
                <a:spcPts val="4299"/>
              </a:lnSpc>
              <a:buFont typeface="Arial"/>
              <a:buChar char="•"/>
            </a:pPr>
            <a:r>
              <a:rPr lang="en-US" b="true" sz="1999">
                <a:solidFill>
                  <a:srgbClr val="000000"/>
                </a:solidFill>
                <a:latin typeface="Arial Bold"/>
                <a:ea typeface="Arial Bold"/>
                <a:cs typeface="Arial Bold"/>
                <a:sym typeface="Arial Bold"/>
              </a:rPr>
              <a:t>ISRO - Indian Space Research Organisation</a:t>
            </a:r>
          </a:p>
          <a:p>
            <a:pPr algn="just" marL="431797" indent="-215899" lvl="1">
              <a:lnSpc>
                <a:spcPts val="4299"/>
              </a:lnSpc>
              <a:buFont typeface="Arial"/>
              <a:buChar char="•"/>
            </a:pPr>
            <a:r>
              <a:rPr lang="en-US" b="true" sz="1999">
                <a:solidFill>
                  <a:srgbClr val="000000"/>
                </a:solidFill>
                <a:latin typeface="Arial Bold"/>
                <a:ea typeface="Arial Bold"/>
                <a:cs typeface="Arial Bold"/>
                <a:sym typeface="Arial Bold"/>
              </a:rPr>
              <a:t>NIC - National Informatics Centre</a:t>
            </a:r>
          </a:p>
          <a:p>
            <a:pPr algn="just" marL="431797" indent="-215899" lvl="1">
              <a:lnSpc>
                <a:spcPts val="4299"/>
              </a:lnSpc>
              <a:buFont typeface="Arial"/>
              <a:buChar char="•"/>
            </a:pPr>
            <a:r>
              <a:rPr lang="en-US" b="true" sz="1999">
                <a:solidFill>
                  <a:srgbClr val="000000"/>
                </a:solidFill>
                <a:latin typeface="Arial Bold"/>
                <a:ea typeface="Arial Bold"/>
                <a:cs typeface="Arial Bold"/>
                <a:sym typeface="Arial Bold"/>
              </a:rPr>
              <a:t>C-DAC - Centre for Development of Advanced Computing</a:t>
            </a:r>
          </a:p>
          <a:p>
            <a:pPr algn="just" marL="431797" indent="-215899" lvl="1">
              <a:lnSpc>
                <a:spcPts val="4299"/>
              </a:lnSpc>
              <a:buFont typeface="Arial"/>
              <a:buChar char="•"/>
            </a:pPr>
            <a:r>
              <a:rPr lang="en-US" b="true" sz="1999">
                <a:solidFill>
                  <a:srgbClr val="000000"/>
                </a:solidFill>
                <a:latin typeface="Arial Bold"/>
                <a:ea typeface="Arial Bold"/>
                <a:cs typeface="Arial Bold"/>
                <a:sym typeface="Arial Bold"/>
              </a:rPr>
              <a:t>BSNL - Bharat Sanchar Nigam Limited</a:t>
            </a:r>
          </a:p>
          <a:p>
            <a:pPr algn="just" marL="431797" indent="-215899" lvl="1">
              <a:lnSpc>
                <a:spcPts val="4299"/>
              </a:lnSpc>
              <a:buFont typeface="Arial"/>
              <a:buChar char="•"/>
            </a:pPr>
            <a:r>
              <a:rPr lang="en-US" b="true" sz="1999">
                <a:solidFill>
                  <a:srgbClr val="000000"/>
                </a:solidFill>
                <a:latin typeface="Arial Bold"/>
                <a:ea typeface="Arial Bold"/>
                <a:cs typeface="Arial Bold"/>
                <a:sym typeface="Arial Bold"/>
              </a:rPr>
              <a:t>BEL - Bharat Electronics Limited etc....</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sp>
        <p:nvSpPr>
          <p:cNvPr name="TextBox 4" id="4"/>
          <p:cNvSpPr txBox="true"/>
          <p:nvPr/>
        </p:nvSpPr>
        <p:spPr>
          <a:xfrm rot="0">
            <a:off x="4248299" y="141923"/>
            <a:ext cx="9791402" cy="807085"/>
          </a:xfrm>
          <a:prstGeom prst="rect">
            <a:avLst/>
          </a:prstGeom>
        </p:spPr>
        <p:txBody>
          <a:bodyPr anchor="t" rtlCol="false" tIns="0" lIns="0" bIns="0" rIns="0">
            <a:spAutoFit/>
          </a:bodyPr>
          <a:lstStyle/>
          <a:p>
            <a:pPr algn="ctr">
              <a:lnSpc>
                <a:spcPts val="6440"/>
              </a:lnSpc>
            </a:pPr>
            <a:r>
              <a:rPr lang="en-US" sz="4600" b="true">
                <a:solidFill>
                  <a:srgbClr val="000000"/>
                </a:solidFill>
                <a:latin typeface="Arial Bold"/>
                <a:ea typeface="Arial Bold"/>
                <a:cs typeface="Arial Bold"/>
                <a:sym typeface="Arial Bold"/>
              </a:rPr>
              <a:t>How to manage college and GATE?</a:t>
            </a:r>
          </a:p>
        </p:txBody>
      </p:sp>
      <p:sp>
        <p:nvSpPr>
          <p:cNvPr name="TextBox 5" id="5"/>
          <p:cNvSpPr txBox="true"/>
          <p:nvPr/>
        </p:nvSpPr>
        <p:spPr>
          <a:xfrm rot="0">
            <a:off x="126547" y="1403519"/>
            <a:ext cx="16990970" cy="2609850"/>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Arial Bold"/>
                <a:ea typeface="Arial Bold"/>
                <a:cs typeface="Arial Bold"/>
                <a:sym typeface="Arial Bold"/>
              </a:rPr>
              <a:t>For the GATE subjects, you can say that they are generally core subjects in the Computer Engineering/Computer Science curriculum. Most of these subjects are covered during your college studies. However, some topics may be included in the GATE syllabus but may not be part of your particular college curriculum. In that case, you will need to cover those additional topics separately through YouTube, online courses, or other educational platforms.</a:t>
            </a:r>
          </a:p>
        </p:txBody>
      </p:sp>
      <p:sp>
        <p:nvSpPr>
          <p:cNvPr name="TextBox 6" id="6"/>
          <p:cNvSpPr txBox="true"/>
          <p:nvPr/>
        </p:nvSpPr>
        <p:spPr>
          <a:xfrm rot="0">
            <a:off x="126547" y="4314156"/>
            <a:ext cx="16990970" cy="3133725"/>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Arial Bold"/>
                <a:ea typeface="Arial Bold"/>
                <a:cs typeface="Arial Bold"/>
                <a:sym typeface="Arial Bold"/>
              </a:rPr>
              <a:t>Remember one thing: when you are sure that you want to crack GATE, I would recommend doing separate and dedicated preparation for GATE. Although your college subjects can help you build the foundation, relying on different faculties or resources for every topic can make it difficult to maintain a consistent learning rhythm. Therefore, once you are serious about GATE, it is better to follow a dedicated GATE preparation strategy and a consistent source of learning.</a:t>
            </a:r>
          </a:p>
        </p:txBody>
      </p:sp>
      <p:sp>
        <p:nvSpPr>
          <p:cNvPr name="TextBox 7" id="7"/>
          <p:cNvSpPr txBox="true"/>
          <p:nvPr/>
        </p:nvSpPr>
        <p:spPr>
          <a:xfrm rot="0">
            <a:off x="126547" y="7625744"/>
            <a:ext cx="16990970" cy="2085975"/>
          </a:xfrm>
          <a:prstGeom prst="rect">
            <a:avLst/>
          </a:prstGeom>
        </p:spPr>
        <p:txBody>
          <a:bodyPr anchor="t" rtlCol="false" tIns="0" lIns="0" bIns="0" rIns="0">
            <a:spAutoFit/>
          </a:bodyPr>
          <a:lstStyle/>
          <a:p>
            <a:pPr algn="l">
              <a:lnSpc>
                <a:spcPts val="4199"/>
              </a:lnSpc>
            </a:pPr>
            <a:r>
              <a:rPr lang="en-US" sz="2999" b="true">
                <a:solidFill>
                  <a:srgbClr val="000000"/>
                </a:solidFill>
                <a:latin typeface="Arial Bold"/>
                <a:ea typeface="Arial Bold"/>
                <a:cs typeface="Arial Bold"/>
                <a:sym typeface="Arial Bold"/>
              </a:rPr>
              <a:t>Even if you complete one or two lectures every day, that is enough to gradually complete </a:t>
            </a:r>
          </a:p>
          <a:p>
            <a:pPr algn="l">
              <a:lnSpc>
                <a:spcPts val="4199"/>
              </a:lnSpc>
              <a:spcBef>
                <a:spcPct val="0"/>
              </a:spcBef>
            </a:pPr>
            <a:r>
              <a:rPr lang="en-US" b="true" sz="2999">
                <a:solidFill>
                  <a:srgbClr val="000000"/>
                </a:solidFill>
                <a:latin typeface="Arial Bold"/>
                <a:ea typeface="Arial Bold"/>
                <a:cs typeface="Arial Bold"/>
                <a:sym typeface="Arial Bold"/>
              </a:rPr>
              <a:t>the GATE syllabus. However, completing the syllabus is only one part of the preparation. Regular revision, solving PYQs, and taking mock tests are equally important for strengthening your concepts and improving your performance in the actual exam.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547" y="9908631"/>
            <a:ext cx="429808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Arial Bold"/>
                <a:ea typeface="Arial Bold"/>
                <a:cs typeface="Arial Bold"/>
                <a:sym typeface="Arial Bold"/>
              </a:rPr>
              <a:t>© 2026 Saumya Pathak | All Rights Reserved</a:t>
            </a:r>
          </a:p>
        </p:txBody>
      </p:sp>
      <p:grpSp>
        <p:nvGrpSpPr>
          <p:cNvPr name="Group 4" id="4"/>
          <p:cNvGrpSpPr/>
          <p:nvPr/>
        </p:nvGrpSpPr>
        <p:grpSpPr>
          <a:xfrm rot="0">
            <a:off x="1028700" y="1028700"/>
            <a:ext cx="3377139" cy="1698093"/>
            <a:chOff x="0" y="0"/>
            <a:chExt cx="812800" cy="408692"/>
          </a:xfrm>
        </p:grpSpPr>
        <p:sp>
          <p:nvSpPr>
            <p:cNvPr name="Freeform 5" id="5"/>
            <p:cNvSpPr/>
            <p:nvPr/>
          </p:nvSpPr>
          <p:spPr>
            <a:xfrm flipH="false" flipV="false" rot="0">
              <a:off x="0" y="0"/>
              <a:ext cx="812800" cy="408692"/>
            </a:xfrm>
            <a:custGeom>
              <a:avLst/>
              <a:gdLst/>
              <a:ahLst/>
              <a:cxnLst/>
              <a:rect r="r" b="b" t="t" l="l"/>
              <a:pathLst>
                <a:path h="408692" w="812800">
                  <a:moveTo>
                    <a:pt x="0" y="0"/>
                  </a:moveTo>
                  <a:lnTo>
                    <a:pt x="812800" y="0"/>
                  </a:lnTo>
                  <a:lnTo>
                    <a:pt x="812800" y="408692"/>
                  </a:lnTo>
                  <a:lnTo>
                    <a:pt x="0" y="408692"/>
                  </a:lnTo>
                  <a:close/>
                </a:path>
              </a:pathLst>
            </a:custGeom>
            <a:solidFill>
              <a:srgbClr val="726262"/>
            </a:solidFill>
          </p:spPr>
        </p:sp>
        <p:sp>
          <p:nvSpPr>
            <p:cNvPr name="TextBox 6" id="6"/>
            <p:cNvSpPr txBox="true"/>
            <p:nvPr/>
          </p:nvSpPr>
          <p:spPr>
            <a:xfrm>
              <a:off x="0" y="-57150"/>
              <a:ext cx="812800" cy="465842"/>
            </a:xfrm>
            <a:prstGeom prst="rect">
              <a:avLst/>
            </a:prstGeom>
          </p:spPr>
          <p:txBody>
            <a:bodyPr anchor="ctr" rtlCol="false" tIns="50800" lIns="50800" bIns="50800" rIns="50800"/>
            <a:lstStyle/>
            <a:p>
              <a:pPr algn="ctr">
                <a:lnSpc>
                  <a:spcPts val="3359"/>
                </a:lnSpc>
              </a:pPr>
              <a:r>
                <a:rPr lang="en-US" b="true" sz="2399">
                  <a:solidFill>
                    <a:srgbClr val="FADE4A"/>
                  </a:solidFill>
                  <a:latin typeface="Arial Bold"/>
                  <a:ea typeface="Arial Bold"/>
                  <a:cs typeface="Arial Bold"/>
                  <a:sym typeface="Arial Bold"/>
                </a:rPr>
                <a:t>Explore Yourself</a:t>
              </a:r>
            </a:p>
          </p:txBody>
        </p:sp>
      </p:grpSp>
      <p:grpSp>
        <p:nvGrpSpPr>
          <p:cNvPr name="Group 7" id="7"/>
          <p:cNvGrpSpPr/>
          <p:nvPr/>
        </p:nvGrpSpPr>
        <p:grpSpPr>
          <a:xfrm rot="0">
            <a:off x="6932034" y="1028700"/>
            <a:ext cx="3377139" cy="1698093"/>
            <a:chOff x="0" y="0"/>
            <a:chExt cx="812800" cy="408692"/>
          </a:xfrm>
        </p:grpSpPr>
        <p:sp>
          <p:nvSpPr>
            <p:cNvPr name="Freeform 8" id="8"/>
            <p:cNvSpPr/>
            <p:nvPr/>
          </p:nvSpPr>
          <p:spPr>
            <a:xfrm flipH="false" flipV="false" rot="0">
              <a:off x="0" y="0"/>
              <a:ext cx="812800" cy="408692"/>
            </a:xfrm>
            <a:custGeom>
              <a:avLst/>
              <a:gdLst/>
              <a:ahLst/>
              <a:cxnLst/>
              <a:rect r="r" b="b" t="t" l="l"/>
              <a:pathLst>
                <a:path h="408692" w="812800">
                  <a:moveTo>
                    <a:pt x="0" y="0"/>
                  </a:moveTo>
                  <a:lnTo>
                    <a:pt x="812800" y="0"/>
                  </a:lnTo>
                  <a:lnTo>
                    <a:pt x="812800" y="408692"/>
                  </a:lnTo>
                  <a:lnTo>
                    <a:pt x="0" y="408692"/>
                  </a:lnTo>
                  <a:close/>
                </a:path>
              </a:pathLst>
            </a:custGeom>
            <a:solidFill>
              <a:srgbClr val="726262"/>
            </a:solidFill>
          </p:spPr>
        </p:sp>
        <p:sp>
          <p:nvSpPr>
            <p:cNvPr name="TextBox 9" id="9"/>
            <p:cNvSpPr txBox="true"/>
            <p:nvPr/>
          </p:nvSpPr>
          <p:spPr>
            <a:xfrm>
              <a:off x="0" y="-57150"/>
              <a:ext cx="812800" cy="465842"/>
            </a:xfrm>
            <a:prstGeom prst="rect">
              <a:avLst/>
            </a:prstGeom>
          </p:spPr>
          <p:txBody>
            <a:bodyPr anchor="ctr" rtlCol="false" tIns="50800" lIns="50800" bIns="50800" rIns="50800"/>
            <a:lstStyle/>
            <a:p>
              <a:pPr algn="ctr">
                <a:lnSpc>
                  <a:spcPts val="3359"/>
                </a:lnSpc>
              </a:pPr>
              <a:r>
                <a:rPr lang="en-US" b="true" sz="2399">
                  <a:solidFill>
                    <a:srgbClr val="FADE4A"/>
                  </a:solidFill>
                  <a:latin typeface="Arial Bold"/>
                  <a:ea typeface="Arial Bold"/>
                  <a:cs typeface="Arial Bold"/>
                  <a:sym typeface="Arial Bold"/>
                </a:rPr>
                <a:t>Set your primary goal</a:t>
              </a:r>
            </a:p>
          </p:txBody>
        </p:sp>
      </p:grpSp>
      <p:sp>
        <p:nvSpPr>
          <p:cNvPr name="AutoShape 10" id="10"/>
          <p:cNvSpPr/>
          <p:nvPr/>
        </p:nvSpPr>
        <p:spPr>
          <a:xfrm flipV="true">
            <a:off x="4405839" y="1877746"/>
            <a:ext cx="2526195" cy="20847"/>
          </a:xfrm>
          <a:prstGeom prst="line">
            <a:avLst/>
          </a:prstGeom>
          <a:ln cap="flat" w="104775">
            <a:solidFill>
              <a:srgbClr val="000000"/>
            </a:solidFill>
            <a:prstDash val="solid"/>
            <a:headEnd type="none" len="sm" w="sm"/>
            <a:tailEnd type="triangle" len="med" w="lg"/>
          </a:ln>
        </p:spPr>
      </p:sp>
      <p:grpSp>
        <p:nvGrpSpPr>
          <p:cNvPr name="Group 11" id="11"/>
          <p:cNvGrpSpPr/>
          <p:nvPr/>
        </p:nvGrpSpPr>
        <p:grpSpPr>
          <a:xfrm rot="0">
            <a:off x="12835800" y="1059970"/>
            <a:ext cx="3377139" cy="1698093"/>
            <a:chOff x="0" y="0"/>
            <a:chExt cx="812800" cy="408692"/>
          </a:xfrm>
        </p:grpSpPr>
        <p:sp>
          <p:nvSpPr>
            <p:cNvPr name="Freeform 12" id="12"/>
            <p:cNvSpPr/>
            <p:nvPr/>
          </p:nvSpPr>
          <p:spPr>
            <a:xfrm flipH="false" flipV="false" rot="0">
              <a:off x="0" y="0"/>
              <a:ext cx="812800" cy="408692"/>
            </a:xfrm>
            <a:custGeom>
              <a:avLst/>
              <a:gdLst/>
              <a:ahLst/>
              <a:cxnLst/>
              <a:rect r="r" b="b" t="t" l="l"/>
              <a:pathLst>
                <a:path h="408692" w="812800">
                  <a:moveTo>
                    <a:pt x="0" y="0"/>
                  </a:moveTo>
                  <a:lnTo>
                    <a:pt x="812800" y="0"/>
                  </a:lnTo>
                  <a:lnTo>
                    <a:pt x="812800" y="408692"/>
                  </a:lnTo>
                  <a:lnTo>
                    <a:pt x="0" y="408692"/>
                  </a:lnTo>
                  <a:close/>
                </a:path>
              </a:pathLst>
            </a:custGeom>
            <a:solidFill>
              <a:srgbClr val="726262"/>
            </a:solidFill>
          </p:spPr>
        </p:sp>
        <p:sp>
          <p:nvSpPr>
            <p:cNvPr name="TextBox 13" id="13"/>
            <p:cNvSpPr txBox="true"/>
            <p:nvPr/>
          </p:nvSpPr>
          <p:spPr>
            <a:xfrm>
              <a:off x="0" y="-57150"/>
              <a:ext cx="812800" cy="465842"/>
            </a:xfrm>
            <a:prstGeom prst="rect">
              <a:avLst/>
            </a:prstGeom>
          </p:spPr>
          <p:txBody>
            <a:bodyPr anchor="ctr" rtlCol="false" tIns="50800" lIns="50800" bIns="50800" rIns="50800"/>
            <a:lstStyle/>
            <a:p>
              <a:pPr algn="ctr">
                <a:lnSpc>
                  <a:spcPts val="3359"/>
                </a:lnSpc>
              </a:pPr>
              <a:r>
                <a:rPr lang="en-US" b="true" sz="2399">
                  <a:solidFill>
                    <a:srgbClr val="FADE4A"/>
                  </a:solidFill>
                  <a:latin typeface="Arial Bold"/>
                  <a:ea typeface="Arial Bold"/>
                  <a:cs typeface="Arial Bold"/>
                  <a:sym typeface="Arial Bold"/>
                </a:rPr>
                <a:t>Build Your Strong Foundation</a:t>
              </a:r>
            </a:p>
          </p:txBody>
        </p:sp>
      </p:grpSp>
      <p:sp>
        <p:nvSpPr>
          <p:cNvPr name="AutoShape 14" id="14"/>
          <p:cNvSpPr/>
          <p:nvPr/>
        </p:nvSpPr>
        <p:spPr>
          <a:xfrm flipV="true">
            <a:off x="10309605" y="1888170"/>
            <a:ext cx="2526195" cy="20847"/>
          </a:xfrm>
          <a:prstGeom prst="line">
            <a:avLst/>
          </a:prstGeom>
          <a:ln cap="flat" w="104775">
            <a:solidFill>
              <a:srgbClr val="000000"/>
            </a:solidFill>
            <a:prstDash val="solid"/>
            <a:headEnd type="none" len="sm" w="sm"/>
            <a:tailEnd type="triangle" len="med" w="lg"/>
          </a:ln>
        </p:spPr>
      </p:sp>
      <p:sp>
        <p:nvSpPr>
          <p:cNvPr name="AutoShape 15" id="15"/>
          <p:cNvSpPr/>
          <p:nvPr/>
        </p:nvSpPr>
        <p:spPr>
          <a:xfrm flipH="true">
            <a:off x="11314827" y="2767273"/>
            <a:ext cx="3176289" cy="1915456"/>
          </a:xfrm>
          <a:prstGeom prst="line">
            <a:avLst/>
          </a:prstGeom>
          <a:ln cap="flat" w="104775">
            <a:solidFill>
              <a:srgbClr val="000000"/>
            </a:solidFill>
            <a:prstDash val="solid"/>
            <a:headEnd type="none" len="sm" w="sm"/>
            <a:tailEnd type="triangle" len="med" w="lg"/>
          </a:ln>
        </p:spPr>
      </p:sp>
      <p:grpSp>
        <p:nvGrpSpPr>
          <p:cNvPr name="Group 16" id="16"/>
          <p:cNvGrpSpPr/>
          <p:nvPr/>
        </p:nvGrpSpPr>
        <p:grpSpPr>
          <a:xfrm rot="0">
            <a:off x="7887614" y="3925307"/>
            <a:ext cx="3377139" cy="1698093"/>
            <a:chOff x="0" y="0"/>
            <a:chExt cx="812800" cy="408692"/>
          </a:xfrm>
        </p:grpSpPr>
        <p:sp>
          <p:nvSpPr>
            <p:cNvPr name="Freeform 17" id="17"/>
            <p:cNvSpPr/>
            <p:nvPr/>
          </p:nvSpPr>
          <p:spPr>
            <a:xfrm flipH="false" flipV="false" rot="0">
              <a:off x="0" y="0"/>
              <a:ext cx="812800" cy="408692"/>
            </a:xfrm>
            <a:custGeom>
              <a:avLst/>
              <a:gdLst/>
              <a:ahLst/>
              <a:cxnLst/>
              <a:rect r="r" b="b" t="t" l="l"/>
              <a:pathLst>
                <a:path h="408692" w="812800">
                  <a:moveTo>
                    <a:pt x="0" y="0"/>
                  </a:moveTo>
                  <a:lnTo>
                    <a:pt x="812800" y="0"/>
                  </a:lnTo>
                  <a:lnTo>
                    <a:pt x="812800" y="408692"/>
                  </a:lnTo>
                  <a:lnTo>
                    <a:pt x="0" y="408692"/>
                  </a:lnTo>
                  <a:close/>
                </a:path>
              </a:pathLst>
            </a:custGeom>
            <a:solidFill>
              <a:srgbClr val="726262"/>
            </a:solidFill>
          </p:spPr>
        </p:sp>
        <p:sp>
          <p:nvSpPr>
            <p:cNvPr name="TextBox 18" id="18"/>
            <p:cNvSpPr txBox="true"/>
            <p:nvPr/>
          </p:nvSpPr>
          <p:spPr>
            <a:xfrm>
              <a:off x="0" y="-57150"/>
              <a:ext cx="812800" cy="465842"/>
            </a:xfrm>
            <a:prstGeom prst="rect">
              <a:avLst/>
            </a:prstGeom>
          </p:spPr>
          <p:txBody>
            <a:bodyPr anchor="ctr" rtlCol="false" tIns="50800" lIns="50800" bIns="50800" rIns="50800"/>
            <a:lstStyle/>
            <a:p>
              <a:pPr algn="ctr">
                <a:lnSpc>
                  <a:spcPts val="3359"/>
                </a:lnSpc>
              </a:pPr>
              <a:r>
                <a:rPr lang="en-US" b="true" sz="2399">
                  <a:solidFill>
                    <a:srgbClr val="FADE4A"/>
                  </a:solidFill>
                  <a:latin typeface="Arial Bold"/>
                  <a:ea typeface="Arial Bold"/>
                  <a:cs typeface="Arial Bold"/>
                  <a:sym typeface="Arial Bold"/>
                </a:rPr>
                <a:t>Revise subjects &amp; Solve poblems</a:t>
              </a:r>
            </a:p>
          </p:txBody>
        </p:sp>
      </p:grpSp>
      <p:grpSp>
        <p:nvGrpSpPr>
          <p:cNvPr name="Group 19" id="19"/>
          <p:cNvGrpSpPr/>
          <p:nvPr/>
        </p:nvGrpSpPr>
        <p:grpSpPr>
          <a:xfrm rot="0">
            <a:off x="1028700" y="3925307"/>
            <a:ext cx="3377139" cy="1823352"/>
            <a:chOff x="0" y="0"/>
            <a:chExt cx="812800" cy="438839"/>
          </a:xfrm>
        </p:grpSpPr>
        <p:sp>
          <p:nvSpPr>
            <p:cNvPr name="Freeform 20" id="20"/>
            <p:cNvSpPr/>
            <p:nvPr/>
          </p:nvSpPr>
          <p:spPr>
            <a:xfrm flipH="false" flipV="false" rot="0">
              <a:off x="0" y="0"/>
              <a:ext cx="812800" cy="438839"/>
            </a:xfrm>
            <a:custGeom>
              <a:avLst/>
              <a:gdLst/>
              <a:ahLst/>
              <a:cxnLst/>
              <a:rect r="r" b="b" t="t" l="l"/>
              <a:pathLst>
                <a:path h="438839" w="812800">
                  <a:moveTo>
                    <a:pt x="0" y="0"/>
                  </a:moveTo>
                  <a:lnTo>
                    <a:pt x="812800" y="0"/>
                  </a:lnTo>
                  <a:lnTo>
                    <a:pt x="812800" y="438839"/>
                  </a:lnTo>
                  <a:lnTo>
                    <a:pt x="0" y="438839"/>
                  </a:lnTo>
                  <a:close/>
                </a:path>
              </a:pathLst>
            </a:custGeom>
            <a:solidFill>
              <a:srgbClr val="726262"/>
            </a:solidFill>
          </p:spPr>
        </p:sp>
        <p:sp>
          <p:nvSpPr>
            <p:cNvPr name="TextBox 21" id="21"/>
            <p:cNvSpPr txBox="true"/>
            <p:nvPr/>
          </p:nvSpPr>
          <p:spPr>
            <a:xfrm>
              <a:off x="0" y="-57150"/>
              <a:ext cx="812800" cy="495989"/>
            </a:xfrm>
            <a:prstGeom prst="rect">
              <a:avLst/>
            </a:prstGeom>
          </p:spPr>
          <p:txBody>
            <a:bodyPr anchor="ctr" rtlCol="false" tIns="50800" lIns="50800" bIns="50800" rIns="50800"/>
            <a:lstStyle/>
            <a:p>
              <a:pPr algn="ctr">
                <a:lnSpc>
                  <a:spcPts val="3359"/>
                </a:lnSpc>
              </a:pPr>
              <a:r>
                <a:rPr lang="en-US" sz="2399" b="true">
                  <a:solidFill>
                    <a:srgbClr val="FADE4A"/>
                  </a:solidFill>
                  <a:latin typeface="Arial Bold"/>
                  <a:ea typeface="Arial Bold"/>
                  <a:cs typeface="Arial Bold"/>
                  <a:sym typeface="Arial Bold"/>
                </a:rPr>
                <a:t>Appear for interviews or </a:t>
              </a:r>
            </a:p>
            <a:p>
              <a:pPr algn="ctr">
                <a:lnSpc>
                  <a:spcPts val="3359"/>
                </a:lnSpc>
              </a:pPr>
              <a:r>
                <a:rPr lang="en-US" b="true" sz="2399">
                  <a:solidFill>
                    <a:srgbClr val="FADE4A"/>
                  </a:solidFill>
                  <a:latin typeface="Arial Bold"/>
                  <a:ea typeface="Arial Bold"/>
                  <a:cs typeface="Arial Bold"/>
                  <a:sym typeface="Arial Bold"/>
                </a:rPr>
                <a:t>competitive examinations</a:t>
              </a:r>
            </a:p>
          </p:txBody>
        </p:sp>
      </p:grpSp>
      <p:sp>
        <p:nvSpPr>
          <p:cNvPr name="AutoShape 22" id="22"/>
          <p:cNvSpPr/>
          <p:nvPr/>
        </p:nvSpPr>
        <p:spPr>
          <a:xfrm flipH="true">
            <a:off x="4405839" y="4774353"/>
            <a:ext cx="3481774" cy="62630"/>
          </a:xfrm>
          <a:prstGeom prst="line">
            <a:avLst/>
          </a:prstGeom>
          <a:ln cap="flat" w="104775">
            <a:solidFill>
              <a:srgbClr val="000000"/>
            </a:solidFill>
            <a:prstDash val="solid"/>
            <a:headEnd type="none" len="sm" w="sm"/>
            <a:tailEnd type="triangle" len="med" w="lg"/>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DB5A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30400" y="3687716"/>
            <a:ext cx="7315200" cy="452212"/>
          </a:xfrm>
          <a:custGeom>
            <a:avLst/>
            <a:gdLst/>
            <a:ahLst/>
            <a:cxnLst/>
            <a:rect r="r" b="b" t="t" l="l"/>
            <a:pathLst>
              <a:path h="452212" w="7315200">
                <a:moveTo>
                  <a:pt x="0" y="0"/>
                </a:moveTo>
                <a:lnTo>
                  <a:pt x="7315200" y="0"/>
                </a:lnTo>
                <a:lnTo>
                  <a:pt x="7315200" y="452213"/>
                </a:lnTo>
                <a:lnTo>
                  <a:pt x="0" y="452213"/>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69026" y="141923"/>
            <a:ext cx="3149947" cy="807085"/>
          </a:xfrm>
          <a:prstGeom prst="rect">
            <a:avLst/>
          </a:prstGeom>
        </p:spPr>
        <p:txBody>
          <a:bodyPr anchor="t" rtlCol="false" tIns="0" lIns="0" bIns="0" rIns="0">
            <a:spAutoFit/>
          </a:bodyPr>
          <a:lstStyle/>
          <a:p>
            <a:pPr algn="ctr">
              <a:lnSpc>
                <a:spcPts val="6440"/>
              </a:lnSpc>
            </a:pPr>
            <a:r>
              <a:rPr lang="en-US" sz="4600" b="true">
                <a:solidFill>
                  <a:srgbClr val="000000"/>
                </a:solidFill>
                <a:latin typeface="Arial Bold"/>
                <a:ea typeface="Arial Bold"/>
                <a:cs typeface="Arial Bold"/>
                <a:sym typeface="Arial Bold"/>
              </a:rPr>
              <a:t>References</a:t>
            </a:r>
          </a:p>
        </p:txBody>
      </p:sp>
      <p:sp>
        <p:nvSpPr>
          <p:cNvPr name="TextBox 4" id="4"/>
          <p:cNvSpPr txBox="true"/>
          <p:nvPr/>
        </p:nvSpPr>
        <p:spPr>
          <a:xfrm rot="0">
            <a:off x="256691" y="6165425"/>
            <a:ext cx="17774617" cy="415291"/>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Arial Bold"/>
                <a:ea typeface="Arial Bold"/>
                <a:cs typeface="Arial Bold"/>
                <a:sym typeface="Arial Bold"/>
              </a:rPr>
              <a:t>All information has been compiled from official GATE sources and publicly available information for educational purposes.</a:t>
            </a:r>
          </a:p>
        </p:txBody>
      </p:sp>
      <p:sp>
        <p:nvSpPr>
          <p:cNvPr name="TextBox 5" id="5"/>
          <p:cNvSpPr txBox="true"/>
          <p:nvPr/>
        </p:nvSpPr>
        <p:spPr>
          <a:xfrm rot="0">
            <a:off x="-183852" y="1537675"/>
            <a:ext cx="15039700" cy="834391"/>
          </a:xfrm>
          <a:prstGeom prst="rect">
            <a:avLst/>
          </a:prstGeom>
        </p:spPr>
        <p:txBody>
          <a:bodyPr anchor="t" rtlCol="false" tIns="0" lIns="0" bIns="0" rIns="0">
            <a:spAutoFit/>
          </a:bodyPr>
          <a:lstStyle/>
          <a:p>
            <a:pPr algn="l" marL="518155" indent="-259078" lvl="1">
              <a:lnSpc>
                <a:spcPts val="3359"/>
              </a:lnSpc>
              <a:buFont typeface="Arial"/>
              <a:buChar char="•"/>
            </a:pPr>
            <a:r>
              <a:rPr lang="en-US" b="true" sz="2399">
                <a:solidFill>
                  <a:srgbClr val="000000"/>
                </a:solidFill>
                <a:latin typeface="Arial Bold"/>
                <a:ea typeface="Arial Bold"/>
                <a:cs typeface="Arial Bold"/>
                <a:sym typeface="Arial Bold"/>
              </a:rPr>
              <a:t>GATE 2027 Official site: </a:t>
            </a:r>
            <a:r>
              <a:rPr lang="en-US" b="true" sz="2399" u="sng">
                <a:solidFill>
                  <a:srgbClr val="000000"/>
                </a:solidFill>
                <a:latin typeface="Arial Bold"/>
                <a:ea typeface="Arial Bold"/>
                <a:cs typeface="Arial Bold"/>
                <a:sym typeface="Arial Bold"/>
                <a:hlinkClick r:id="rId4" tooltip="https://gate2027.iitm.ac.in"/>
              </a:rPr>
              <a:t>https://gate2027.iitm.ac.in</a:t>
            </a:r>
          </a:p>
          <a:p>
            <a:pPr algn="l" marL="518155" indent="-259078" lvl="1">
              <a:lnSpc>
                <a:spcPts val="3359"/>
              </a:lnSpc>
              <a:buFont typeface="Arial"/>
              <a:buChar char="•"/>
            </a:pPr>
            <a:r>
              <a:rPr lang="en-US" b="true" sz="2399">
                <a:solidFill>
                  <a:srgbClr val="000000"/>
                </a:solidFill>
                <a:latin typeface="Arial Bold"/>
                <a:ea typeface="Arial Bold"/>
                <a:cs typeface="Arial Bold"/>
                <a:sym typeface="Arial Bold"/>
              </a:rPr>
              <a:t>GATE 2027 Information brochure: </a:t>
            </a:r>
            <a:r>
              <a:rPr lang="en-US" b="true" sz="2399" u="sng">
                <a:solidFill>
                  <a:srgbClr val="000000"/>
                </a:solidFill>
                <a:latin typeface="Arial Bold"/>
                <a:ea typeface="Arial Bold"/>
                <a:cs typeface="Arial Bold"/>
                <a:sym typeface="Arial Bold"/>
                <a:hlinkClick r:id="rId5" tooltip="https://gate2027.iitm.ac.in/static/doc/IB/GATE2027-IB_v1.pdf"/>
              </a:rPr>
              <a:t>https://gate2027.iitm.ac.in/static/doc/IB/GATE2027-IB_v1.pdf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DAHSqp87ToI</dc:identifier>
  <dcterms:modified xsi:type="dcterms:W3CDTF">2011-08-01T06:04:30Z</dcterms:modified>
  <cp:revision>1</cp:revision>
  <dc:title>C-Language</dc:title>
</cp:coreProperties>
</file>